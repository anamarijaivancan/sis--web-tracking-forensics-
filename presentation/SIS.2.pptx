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84" r:id="rId11"/>
    <p:sldId id="285" r:id="rId12"/>
    <p:sldId id="286" r:id="rId13"/>
    <p:sldId id="266" r:id="rId14"/>
    <p:sldId id="287" r:id="rId15"/>
    <p:sldId id="280" r:id="rId16"/>
    <p:sldId id="288" r:id="rId17"/>
    <p:sldId id="282" r:id="rId18"/>
    <p:sldId id="283" r:id="rId19"/>
    <p:sldId id="268" r:id="rId20"/>
    <p:sldId id="270" r:id="rId21"/>
    <p:sldId id="274" r:id="rId22"/>
    <p:sldId id="277" r:id="rId23"/>
  </p:sldIdLst>
  <p:sldSz cx="12192000" cy="6858000"/>
  <p:notesSz cx="6858000" cy="9144000"/>
  <p:defaultTextStyle>
    <a:defPPr>
      <a:defRPr lang="sr-Latn-R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6D773F-4352-C2E6-D8D3-ADFA6F8EF529}" v="10" dt="2026-01-20T21:50:14.398"/>
    <p1510:client id="{19107A7E-36D5-A90E-BE05-280AF91BFDE1}" v="1218" dt="2026-01-20T16:12:52.609"/>
    <p1510:client id="{59251564-BC50-413E-6B62-07F44F1AFD55}" v="4" dt="2026-01-20T16:05:22.362"/>
    <p1510:client id="{845734FA-0E56-4D41-3C95-AAE06417CBB2}" v="1471" dt="2026-01-20T19:40:52.592"/>
    <p1510:client id="{A44D96E9-7B4A-5404-FDFD-B2E62CBE9B98}" v="801" dt="2026-01-20T15:17:05.870"/>
    <p1510:client id="{B1494E51-8CF0-129C-84F5-2E18009D159C}" v="195" dt="2026-01-20T19:16:56.492"/>
    <p1510:client id="{FBBD1873-C15D-5C78-76FE-83CF0F042EA1}" v="171" dt="2026-01-21T01:49:31.7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0DBD9DE-8DC7-4D0B-BCBF-4930A7194A54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B8E089E0-077D-4C73-97DC-C043E9ECF8F9}">
      <dgm:prSet/>
      <dgm:spPr/>
      <dgm:t>
        <a:bodyPr/>
        <a:lstStyle/>
        <a:p>
          <a:r>
            <a:rPr lang="en-US"/>
            <a:t>Tri Komponente Intenziteta:</a:t>
          </a:r>
        </a:p>
      </dgm:t>
    </dgm:pt>
    <dgm:pt modelId="{16907B31-AAEC-48C7-B12C-E75B3BB319EE}" type="parTrans" cxnId="{2CD47D5A-20A0-43F2-B9A2-815C911785C4}">
      <dgm:prSet/>
      <dgm:spPr/>
      <dgm:t>
        <a:bodyPr/>
        <a:lstStyle/>
        <a:p>
          <a:endParaRPr lang="en-US"/>
        </a:p>
      </dgm:t>
    </dgm:pt>
    <dgm:pt modelId="{8D0C433F-2127-496B-8396-4F8AE397B990}" type="sibTrans" cxnId="{2CD47D5A-20A0-43F2-B9A2-815C911785C4}">
      <dgm:prSet/>
      <dgm:spPr/>
      <dgm:t>
        <a:bodyPr/>
        <a:lstStyle/>
        <a:p>
          <a:endParaRPr lang="en-US"/>
        </a:p>
      </dgm:t>
    </dgm:pt>
    <dgm:pt modelId="{DBEDB297-7E3E-4BD0-AD24-D521C13E638D}">
      <dgm:prSet/>
      <dgm:spPr/>
      <dgm:t>
        <a:bodyPr/>
        <a:lstStyle/>
        <a:p>
          <a:r>
            <a:rPr lang="en-US"/>
            <a:t>Trackers - Broj tracking skripti (Google Analytics, Facebook pixel)</a:t>
          </a:r>
        </a:p>
      </dgm:t>
    </dgm:pt>
    <dgm:pt modelId="{B37F67B4-BEF9-4647-9B81-284826BF498C}" type="parTrans" cxnId="{667750C0-B801-47AD-B2F1-744157307DF1}">
      <dgm:prSet/>
      <dgm:spPr/>
      <dgm:t>
        <a:bodyPr/>
        <a:lstStyle/>
        <a:p>
          <a:endParaRPr lang="en-US"/>
        </a:p>
      </dgm:t>
    </dgm:pt>
    <dgm:pt modelId="{301FF7BE-CFC5-4AE4-9D8D-36D50B41FD4F}" type="sibTrans" cxnId="{667750C0-B801-47AD-B2F1-744157307DF1}">
      <dgm:prSet/>
      <dgm:spPr/>
      <dgm:t>
        <a:bodyPr/>
        <a:lstStyle/>
        <a:p>
          <a:endParaRPr lang="en-US"/>
        </a:p>
      </dgm:t>
    </dgm:pt>
    <dgm:pt modelId="{08922467-B61E-44A6-B9B1-659C8D8FAE6E}">
      <dgm:prSet/>
      <dgm:spPr/>
      <dgm:t>
        <a:bodyPr/>
        <a:lstStyle/>
        <a:p>
          <a:r>
            <a:rPr lang="en-US"/>
            <a:t>3rd-party Cookies - Cookiesi od vanjskih izvora (×3 težine)</a:t>
          </a:r>
        </a:p>
      </dgm:t>
    </dgm:pt>
    <dgm:pt modelId="{4E9B6156-A8A3-4DF0-A6F8-30129E9D749D}" type="parTrans" cxnId="{951B84D4-DFF0-4C32-9874-B8CBD1327901}">
      <dgm:prSet/>
      <dgm:spPr/>
      <dgm:t>
        <a:bodyPr/>
        <a:lstStyle/>
        <a:p>
          <a:endParaRPr lang="en-US"/>
        </a:p>
      </dgm:t>
    </dgm:pt>
    <dgm:pt modelId="{FAE77000-EA72-4383-B816-9D69242DEB14}" type="sibTrans" cxnId="{951B84D4-DFF0-4C32-9874-B8CBD1327901}">
      <dgm:prSet/>
      <dgm:spPr/>
      <dgm:t>
        <a:bodyPr/>
        <a:lstStyle/>
        <a:p>
          <a:endParaRPr lang="en-US"/>
        </a:p>
      </dgm:t>
    </dgm:pt>
    <dgm:pt modelId="{16FB1ED1-A55A-426C-AD73-77FFCB3F9D28}">
      <dgm:prSet/>
      <dgm:spPr/>
      <dgm:t>
        <a:bodyPr/>
        <a:lstStyle/>
        <a:p>
          <a:r>
            <a:rPr lang="en-US"/>
            <a:t>Fingerprinting - Skriveno prikupljanje info o uređaju (×10 težine)</a:t>
          </a:r>
        </a:p>
      </dgm:t>
    </dgm:pt>
    <dgm:pt modelId="{F246CD4E-C0C1-4D70-BAFF-A9B7A0E34A3E}" type="parTrans" cxnId="{93151949-8F7F-4EC7-960E-C68C1141BCFF}">
      <dgm:prSet/>
      <dgm:spPr/>
      <dgm:t>
        <a:bodyPr/>
        <a:lstStyle/>
        <a:p>
          <a:endParaRPr lang="en-US"/>
        </a:p>
      </dgm:t>
    </dgm:pt>
    <dgm:pt modelId="{61ECE8E9-6F3D-4979-B503-824E8E70AC45}" type="sibTrans" cxnId="{93151949-8F7F-4EC7-960E-C68C1141BCFF}">
      <dgm:prSet/>
      <dgm:spPr/>
      <dgm:t>
        <a:bodyPr/>
        <a:lstStyle/>
        <a:p>
          <a:endParaRPr lang="en-US"/>
        </a:p>
      </dgm:t>
    </dgm:pt>
    <dgm:pt modelId="{1F74CFF4-834A-4918-A40C-78FF9F032C32}">
      <dgm:prSet/>
      <dgm:spPr/>
      <dgm:t>
        <a:bodyPr/>
        <a:lstStyle/>
        <a:p>
          <a:r>
            <a:rPr lang="en-US" b="1"/>
            <a:t>Rezultat = trackers + (3 × cookies) + (10 × fingerprinting)</a:t>
          </a:r>
          <a:endParaRPr lang="en-US"/>
        </a:p>
      </dgm:t>
    </dgm:pt>
    <dgm:pt modelId="{20893B43-C033-4A98-9739-C15B3ED99120}" type="parTrans" cxnId="{68A02F24-AA1D-4D56-8EF2-46737CD8AB20}">
      <dgm:prSet/>
      <dgm:spPr/>
      <dgm:t>
        <a:bodyPr/>
        <a:lstStyle/>
        <a:p>
          <a:endParaRPr lang="en-US"/>
        </a:p>
      </dgm:t>
    </dgm:pt>
    <dgm:pt modelId="{9556B5BC-4018-41BD-8273-C9630306D2AD}" type="sibTrans" cxnId="{68A02F24-AA1D-4D56-8EF2-46737CD8AB20}">
      <dgm:prSet/>
      <dgm:spPr/>
      <dgm:t>
        <a:bodyPr/>
        <a:lstStyle/>
        <a:p>
          <a:endParaRPr lang="en-US"/>
        </a:p>
      </dgm:t>
    </dgm:pt>
    <dgm:pt modelId="{F84B8622-1B2D-4CE9-81BC-16718EE2DFEC}" type="pres">
      <dgm:prSet presAssocID="{30DBD9DE-8DC7-4D0B-BCBF-4930A7194A54}" presName="linear" presStyleCnt="0">
        <dgm:presLayoutVars>
          <dgm:animLvl val="lvl"/>
          <dgm:resizeHandles val="exact"/>
        </dgm:presLayoutVars>
      </dgm:prSet>
      <dgm:spPr/>
    </dgm:pt>
    <dgm:pt modelId="{40FEA29A-EE6D-47D0-A75F-6B8F9458B473}" type="pres">
      <dgm:prSet presAssocID="{B8E089E0-077D-4C73-97DC-C043E9ECF8F9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74E7F721-4406-4DBC-AECD-EEE288F02E7A}" type="pres">
      <dgm:prSet presAssocID="{8D0C433F-2127-496B-8396-4F8AE397B990}" presName="spacer" presStyleCnt="0"/>
      <dgm:spPr/>
    </dgm:pt>
    <dgm:pt modelId="{47EF6152-B70F-4929-85F2-47E39B4D8111}" type="pres">
      <dgm:prSet presAssocID="{DBEDB297-7E3E-4BD0-AD24-D521C13E638D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21DAF35A-C2DC-4B81-B6AF-98BA288F54EF}" type="pres">
      <dgm:prSet presAssocID="{301FF7BE-CFC5-4AE4-9D8D-36D50B41FD4F}" presName="spacer" presStyleCnt="0"/>
      <dgm:spPr/>
    </dgm:pt>
    <dgm:pt modelId="{9298EA14-12C5-47BA-AA5B-2E226E9802C8}" type="pres">
      <dgm:prSet presAssocID="{08922467-B61E-44A6-B9B1-659C8D8FAE6E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C7425FD2-768E-4A2E-9197-196D5CED6434}" type="pres">
      <dgm:prSet presAssocID="{FAE77000-EA72-4383-B816-9D69242DEB14}" presName="spacer" presStyleCnt="0"/>
      <dgm:spPr/>
    </dgm:pt>
    <dgm:pt modelId="{2E9D3F2E-96CA-4704-BB1E-121308042F28}" type="pres">
      <dgm:prSet presAssocID="{16FB1ED1-A55A-426C-AD73-77FFCB3F9D28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85C719DE-DD1E-4ED3-A7CC-6941A7D8988C}" type="pres">
      <dgm:prSet presAssocID="{61ECE8E9-6F3D-4979-B503-824E8E70AC45}" presName="spacer" presStyleCnt="0"/>
      <dgm:spPr/>
    </dgm:pt>
    <dgm:pt modelId="{93F8D383-EE3F-43EA-A9D4-76527915E4DC}" type="pres">
      <dgm:prSet presAssocID="{1F74CFF4-834A-4918-A40C-78FF9F032C32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FF39620F-1643-4392-A3D7-D24FBD1E36EB}" type="presOf" srcId="{30DBD9DE-8DC7-4D0B-BCBF-4930A7194A54}" destId="{F84B8622-1B2D-4CE9-81BC-16718EE2DFEC}" srcOrd="0" destOrd="0" presId="urn:microsoft.com/office/officeart/2005/8/layout/vList2"/>
    <dgm:cxn modelId="{68A02F24-AA1D-4D56-8EF2-46737CD8AB20}" srcId="{30DBD9DE-8DC7-4D0B-BCBF-4930A7194A54}" destId="{1F74CFF4-834A-4918-A40C-78FF9F032C32}" srcOrd="4" destOrd="0" parTransId="{20893B43-C033-4A98-9739-C15B3ED99120}" sibTransId="{9556B5BC-4018-41BD-8273-C9630306D2AD}"/>
    <dgm:cxn modelId="{93151949-8F7F-4EC7-960E-C68C1141BCFF}" srcId="{30DBD9DE-8DC7-4D0B-BCBF-4930A7194A54}" destId="{16FB1ED1-A55A-426C-AD73-77FFCB3F9D28}" srcOrd="3" destOrd="0" parTransId="{F246CD4E-C0C1-4D70-BAFF-A9B7A0E34A3E}" sibTransId="{61ECE8E9-6F3D-4979-B503-824E8E70AC45}"/>
    <dgm:cxn modelId="{2D10854B-0DB3-431B-8BBD-9F6CCB937C34}" type="presOf" srcId="{B8E089E0-077D-4C73-97DC-C043E9ECF8F9}" destId="{40FEA29A-EE6D-47D0-A75F-6B8F9458B473}" srcOrd="0" destOrd="0" presId="urn:microsoft.com/office/officeart/2005/8/layout/vList2"/>
    <dgm:cxn modelId="{3642B56C-E9DA-4AA6-B02E-D08F57EC5212}" type="presOf" srcId="{1F74CFF4-834A-4918-A40C-78FF9F032C32}" destId="{93F8D383-EE3F-43EA-A9D4-76527915E4DC}" srcOrd="0" destOrd="0" presId="urn:microsoft.com/office/officeart/2005/8/layout/vList2"/>
    <dgm:cxn modelId="{C4887673-E896-4FBB-B2D7-C6B9E6EB600C}" type="presOf" srcId="{08922467-B61E-44A6-B9B1-659C8D8FAE6E}" destId="{9298EA14-12C5-47BA-AA5B-2E226E9802C8}" srcOrd="0" destOrd="0" presId="urn:microsoft.com/office/officeart/2005/8/layout/vList2"/>
    <dgm:cxn modelId="{2CD47D5A-20A0-43F2-B9A2-815C911785C4}" srcId="{30DBD9DE-8DC7-4D0B-BCBF-4930A7194A54}" destId="{B8E089E0-077D-4C73-97DC-C043E9ECF8F9}" srcOrd="0" destOrd="0" parTransId="{16907B31-AAEC-48C7-B12C-E75B3BB319EE}" sibTransId="{8D0C433F-2127-496B-8396-4F8AE397B990}"/>
    <dgm:cxn modelId="{8C8140BB-B395-4B90-9349-DB8121AD3AFB}" type="presOf" srcId="{DBEDB297-7E3E-4BD0-AD24-D521C13E638D}" destId="{47EF6152-B70F-4929-85F2-47E39B4D8111}" srcOrd="0" destOrd="0" presId="urn:microsoft.com/office/officeart/2005/8/layout/vList2"/>
    <dgm:cxn modelId="{667750C0-B801-47AD-B2F1-744157307DF1}" srcId="{30DBD9DE-8DC7-4D0B-BCBF-4930A7194A54}" destId="{DBEDB297-7E3E-4BD0-AD24-D521C13E638D}" srcOrd="1" destOrd="0" parTransId="{B37F67B4-BEF9-4647-9B81-284826BF498C}" sibTransId="{301FF7BE-CFC5-4AE4-9D8D-36D50B41FD4F}"/>
    <dgm:cxn modelId="{951B84D4-DFF0-4C32-9874-B8CBD1327901}" srcId="{30DBD9DE-8DC7-4D0B-BCBF-4930A7194A54}" destId="{08922467-B61E-44A6-B9B1-659C8D8FAE6E}" srcOrd="2" destOrd="0" parTransId="{4E9B6156-A8A3-4DF0-A6F8-30129E9D749D}" sibTransId="{FAE77000-EA72-4383-B816-9D69242DEB14}"/>
    <dgm:cxn modelId="{2B4C48F7-5071-4105-B949-FC405EB57999}" type="presOf" srcId="{16FB1ED1-A55A-426C-AD73-77FFCB3F9D28}" destId="{2E9D3F2E-96CA-4704-BB1E-121308042F28}" srcOrd="0" destOrd="0" presId="urn:microsoft.com/office/officeart/2005/8/layout/vList2"/>
    <dgm:cxn modelId="{8E3DBECF-6558-431B-8630-6F4D35ED2331}" type="presParOf" srcId="{F84B8622-1B2D-4CE9-81BC-16718EE2DFEC}" destId="{40FEA29A-EE6D-47D0-A75F-6B8F9458B473}" srcOrd="0" destOrd="0" presId="urn:microsoft.com/office/officeart/2005/8/layout/vList2"/>
    <dgm:cxn modelId="{E8A8A0CD-7A6C-4DF8-A62A-B22BC8EF15A9}" type="presParOf" srcId="{F84B8622-1B2D-4CE9-81BC-16718EE2DFEC}" destId="{74E7F721-4406-4DBC-AECD-EEE288F02E7A}" srcOrd="1" destOrd="0" presId="urn:microsoft.com/office/officeart/2005/8/layout/vList2"/>
    <dgm:cxn modelId="{EE2F5880-0137-47AA-A6B7-0038779E75E7}" type="presParOf" srcId="{F84B8622-1B2D-4CE9-81BC-16718EE2DFEC}" destId="{47EF6152-B70F-4929-85F2-47E39B4D8111}" srcOrd="2" destOrd="0" presId="urn:microsoft.com/office/officeart/2005/8/layout/vList2"/>
    <dgm:cxn modelId="{6A3D68C9-9C71-49D2-A0DD-86BDB3D193C6}" type="presParOf" srcId="{F84B8622-1B2D-4CE9-81BC-16718EE2DFEC}" destId="{21DAF35A-C2DC-4B81-B6AF-98BA288F54EF}" srcOrd="3" destOrd="0" presId="urn:microsoft.com/office/officeart/2005/8/layout/vList2"/>
    <dgm:cxn modelId="{35F02FF1-0C18-4B83-8AF5-8B10C2D88495}" type="presParOf" srcId="{F84B8622-1B2D-4CE9-81BC-16718EE2DFEC}" destId="{9298EA14-12C5-47BA-AA5B-2E226E9802C8}" srcOrd="4" destOrd="0" presId="urn:microsoft.com/office/officeart/2005/8/layout/vList2"/>
    <dgm:cxn modelId="{8161B5A3-3123-4A2F-A6AD-3341FDDF748C}" type="presParOf" srcId="{F84B8622-1B2D-4CE9-81BC-16718EE2DFEC}" destId="{C7425FD2-768E-4A2E-9197-196D5CED6434}" srcOrd="5" destOrd="0" presId="urn:microsoft.com/office/officeart/2005/8/layout/vList2"/>
    <dgm:cxn modelId="{BD396050-52AE-45CE-802A-BE8ADCC8D9E4}" type="presParOf" srcId="{F84B8622-1B2D-4CE9-81BC-16718EE2DFEC}" destId="{2E9D3F2E-96CA-4704-BB1E-121308042F28}" srcOrd="6" destOrd="0" presId="urn:microsoft.com/office/officeart/2005/8/layout/vList2"/>
    <dgm:cxn modelId="{209D82D3-3604-45DF-9B98-788E87AB29FA}" type="presParOf" srcId="{F84B8622-1B2D-4CE9-81BC-16718EE2DFEC}" destId="{85C719DE-DD1E-4ED3-A7CC-6941A7D8988C}" srcOrd="7" destOrd="0" presId="urn:microsoft.com/office/officeart/2005/8/layout/vList2"/>
    <dgm:cxn modelId="{C6B316B7-C256-4C4E-AF33-17FADC7E82DC}" type="presParOf" srcId="{F84B8622-1B2D-4CE9-81BC-16718EE2DFEC}" destId="{93F8D383-EE3F-43EA-A9D4-76527915E4DC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FEA29A-EE6D-47D0-A75F-6B8F9458B473}">
      <dsp:nvSpPr>
        <dsp:cNvPr id="0" name=""/>
        <dsp:cNvSpPr/>
      </dsp:nvSpPr>
      <dsp:spPr>
        <a:xfrm>
          <a:off x="0" y="87569"/>
          <a:ext cx="6666833" cy="998156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Tri Komponente Intenziteta:</a:t>
          </a:r>
        </a:p>
      </dsp:txBody>
      <dsp:txXfrm>
        <a:off x="48726" y="136295"/>
        <a:ext cx="6569381" cy="900704"/>
      </dsp:txXfrm>
    </dsp:sp>
    <dsp:sp modelId="{47EF6152-B70F-4929-85F2-47E39B4D8111}">
      <dsp:nvSpPr>
        <dsp:cNvPr id="0" name=""/>
        <dsp:cNvSpPr/>
      </dsp:nvSpPr>
      <dsp:spPr>
        <a:xfrm>
          <a:off x="0" y="1157725"/>
          <a:ext cx="6666833" cy="998156"/>
        </a:xfrm>
        <a:prstGeom prst="roundRect">
          <a:avLst/>
        </a:prstGeom>
        <a:gradFill rotWithShape="0">
          <a:gsLst>
            <a:gs pos="0">
              <a:schemeClr val="accent5">
                <a:hueOff val="-3038037"/>
                <a:satOff val="-207"/>
                <a:lumOff val="49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3038037"/>
                <a:satOff val="-207"/>
                <a:lumOff val="49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3038037"/>
                <a:satOff val="-207"/>
                <a:lumOff val="49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Trackers - Broj tracking skripti (Google Analytics, Facebook pixel)</a:t>
          </a:r>
        </a:p>
      </dsp:txBody>
      <dsp:txXfrm>
        <a:off x="48726" y="1206451"/>
        <a:ext cx="6569381" cy="900704"/>
      </dsp:txXfrm>
    </dsp:sp>
    <dsp:sp modelId="{9298EA14-12C5-47BA-AA5B-2E226E9802C8}">
      <dsp:nvSpPr>
        <dsp:cNvPr id="0" name=""/>
        <dsp:cNvSpPr/>
      </dsp:nvSpPr>
      <dsp:spPr>
        <a:xfrm>
          <a:off x="0" y="2227881"/>
          <a:ext cx="6666833" cy="998156"/>
        </a:xfrm>
        <a:prstGeom prst="roundRect">
          <a:avLst/>
        </a:prstGeom>
        <a:gradFill rotWithShape="0">
          <a:gsLst>
            <a:gs pos="0">
              <a:schemeClr val="accent5">
                <a:hueOff val="-6076075"/>
                <a:satOff val="-413"/>
                <a:lumOff val="9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076075"/>
                <a:satOff val="-413"/>
                <a:lumOff val="9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076075"/>
                <a:satOff val="-413"/>
                <a:lumOff val="9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3rd-party Cookies - Cookiesi od vanjskih izvora (×3 težine)</a:t>
          </a:r>
        </a:p>
      </dsp:txBody>
      <dsp:txXfrm>
        <a:off x="48726" y="2276607"/>
        <a:ext cx="6569381" cy="900704"/>
      </dsp:txXfrm>
    </dsp:sp>
    <dsp:sp modelId="{2E9D3F2E-96CA-4704-BB1E-121308042F28}">
      <dsp:nvSpPr>
        <dsp:cNvPr id="0" name=""/>
        <dsp:cNvSpPr/>
      </dsp:nvSpPr>
      <dsp:spPr>
        <a:xfrm>
          <a:off x="0" y="3298038"/>
          <a:ext cx="6666833" cy="998156"/>
        </a:xfrm>
        <a:prstGeom prst="roundRect">
          <a:avLst/>
        </a:prstGeom>
        <a:gradFill rotWithShape="0">
          <a:gsLst>
            <a:gs pos="0">
              <a:schemeClr val="accent5">
                <a:hueOff val="-9114112"/>
                <a:satOff val="-620"/>
                <a:lumOff val="147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9114112"/>
                <a:satOff val="-620"/>
                <a:lumOff val="147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9114112"/>
                <a:satOff val="-620"/>
                <a:lumOff val="147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Fingerprinting - Skriveno prikupljanje info o uređaju (×10 težine)</a:t>
          </a:r>
        </a:p>
      </dsp:txBody>
      <dsp:txXfrm>
        <a:off x="48726" y="3346764"/>
        <a:ext cx="6569381" cy="900704"/>
      </dsp:txXfrm>
    </dsp:sp>
    <dsp:sp modelId="{93F8D383-EE3F-43EA-A9D4-76527915E4DC}">
      <dsp:nvSpPr>
        <dsp:cNvPr id="0" name=""/>
        <dsp:cNvSpPr/>
      </dsp:nvSpPr>
      <dsp:spPr>
        <a:xfrm>
          <a:off x="0" y="4368194"/>
          <a:ext cx="6666833" cy="998156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Rezultat = trackers + (3 × cookies) + (10 × fingerprinting)</a:t>
          </a:r>
          <a:endParaRPr lang="en-US" sz="2500" kern="1200"/>
        </a:p>
      </dsp:txBody>
      <dsp:txXfrm>
        <a:off x="48726" y="4416920"/>
        <a:ext cx="6569381" cy="90070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Naslovni slaj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r-HR"/>
              <a:t>Uredite stil naslova matrice</a:t>
            </a:r>
          </a:p>
        </p:txBody>
      </p:sp>
      <p:sp>
        <p:nvSpPr>
          <p:cNvPr id="3" name="Podnaslov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r-HR"/>
              <a:t>Uredite stil podnaslova matrice</a:t>
            </a:r>
          </a:p>
        </p:txBody>
      </p:sp>
      <p:sp>
        <p:nvSpPr>
          <p:cNvPr id="4" name="Rezervirano mjesto datum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1FB43-724D-437A-A5E8-1D673BA80D2D}" type="datetimeFigureOut">
              <a:rPr lang="hr-HR" smtClean="0"/>
              <a:t>23.1.2026.</a:t>
            </a:fld>
            <a:endParaRPr lang="hr-HR"/>
          </a:p>
        </p:txBody>
      </p:sp>
      <p:sp>
        <p:nvSpPr>
          <p:cNvPr id="5" name="Rezervirano mjesto podnožj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Rezervirano mjesto broja slajd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202B4-9E9C-4ADB-9FE3-5F44E6437AB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765679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Uredite stil naslova matrice</a:t>
            </a:r>
          </a:p>
        </p:txBody>
      </p:sp>
      <p:sp>
        <p:nvSpPr>
          <p:cNvPr id="3" name="Rezervirano mjesto sadržaja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r-HR"/>
              <a:t>Uredite stilove teksta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</a:t>
            </a:r>
          </a:p>
        </p:txBody>
      </p:sp>
      <p:sp>
        <p:nvSpPr>
          <p:cNvPr id="4" name="Rezervirano mjesto datum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1FB43-724D-437A-A5E8-1D673BA80D2D}" type="datetimeFigureOut">
              <a:rPr lang="hr-HR" smtClean="0"/>
              <a:t>23.1.2026.</a:t>
            </a:fld>
            <a:endParaRPr lang="hr-HR"/>
          </a:p>
        </p:txBody>
      </p:sp>
      <p:sp>
        <p:nvSpPr>
          <p:cNvPr id="5" name="Rezervirano mjesto podnožj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Rezervirano mjesto broja slajd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202B4-9E9C-4ADB-9FE3-5F44E6437AB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739703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aglavlje odjelj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r-HR"/>
              <a:t>Uredite stil naslova matrice</a:t>
            </a:r>
          </a:p>
        </p:txBody>
      </p:sp>
      <p:sp>
        <p:nvSpPr>
          <p:cNvPr id="3" name="Rezervirano mjesto teksta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r-HR"/>
              <a:t>Uredite stilove teksta matrice</a:t>
            </a:r>
          </a:p>
        </p:txBody>
      </p:sp>
      <p:sp>
        <p:nvSpPr>
          <p:cNvPr id="4" name="Rezervirano mjesto datum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1FB43-724D-437A-A5E8-1D673BA80D2D}" type="datetimeFigureOut">
              <a:rPr lang="hr-HR" smtClean="0"/>
              <a:t>23.1.2026.</a:t>
            </a:fld>
            <a:endParaRPr lang="hr-HR"/>
          </a:p>
        </p:txBody>
      </p:sp>
      <p:sp>
        <p:nvSpPr>
          <p:cNvPr id="5" name="Rezervirano mjesto podnožj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Rezervirano mjesto broja slajd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202B4-9E9C-4ADB-9FE3-5F44E6437AB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188215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sadrža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Uredite stil naslova matrice</a:t>
            </a:r>
          </a:p>
        </p:txBody>
      </p:sp>
      <p:sp>
        <p:nvSpPr>
          <p:cNvPr id="3" name="Rezervirano mjesto sadržaja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r-HR"/>
              <a:t>Uredite stilove teksta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</a:t>
            </a:r>
          </a:p>
        </p:txBody>
      </p:sp>
      <p:sp>
        <p:nvSpPr>
          <p:cNvPr id="4" name="Rezervirano mjesto sadržaja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r-HR"/>
              <a:t>Uredite stilove teksta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</a:t>
            </a:r>
          </a:p>
        </p:txBody>
      </p:sp>
      <p:sp>
        <p:nvSpPr>
          <p:cNvPr id="5" name="Rezervirano mjesto datum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1FB43-724D-437A-A5E8-1D673BA80D2D}" type="datetimeFigureOut">
              <a:rPr lang="hr-HR" smtClean="0"/>
              <a:t>23.1.2026.</a:t>
            </a:fld>
            <a:endParaRPr lang="hr-HR"/>
          </a:p>
        </p:txBody>
      </p:sp>
      <p:sp>
        <p:nvSpPr>
          <p:cNvPr id="6" name="Rezervirano mjesto podnožj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Rezervirano mjesto broja slajd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202B4-9E9C-4ADB-9FE3-5F44E6437AB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2931780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Usporedb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r-HR"/>
              <a:t>Uredite stil naslova matrice</a:t>
            </a:r>
          </a:p>
        </p:txBody>
      </p:sp>
      <p:sp>
        <p:nvSpPr>
          <p:cNvPr id="3" name="Rezervirano mjesto teksta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/>
              <a:t>Uredite stilove teksta matrice</a:t>
            </a:r>
          </a:p>
        </p:txBody>
      </p:sp>
      <p:sp>
        <p:nvSpPr>
          <p:cNvPr id="4" name="Rezervirano mjesto sadržaja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r-HR"/>
              <a:t>Uredite stilove teksta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</a:t>
            </a:r>
          </a:p>
        </p:txBody>
      </p:sp>
      <p:sp>
        <p:nvSpPr>
          <p:cNvPr id="5" name="Rezervirano mjesto teksta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/>
              <a:t>Uredite stilove teksta matrice</a:t>
            </a:r>
          </a:p>
        </p:txBody>
      </p:sp>
      <p:sp>
        <p:nvSpPr>
          <p:cNvPr id="6" name="Rezervirano mjesto sadržaja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r-HR"/>
              <a:t>Uredite stilove teksta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</a:t>
            </a:r>
          </a:p>
        </p:txBody>
      </p:sp>
      <p:sp>
        <p:nvSpPr>
          <p:cNvPr id="7" name="Rezervirano mjesto datum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1FB43-724D-437A-A5E8-1D673BA80D2D}" type="datetimeFigureOut">
              <a:rPr lang="hr-HR" smtClean="0"/>
              <a:t>23.1.2026.</a:t>
            </a:fld>
            <a:endParaRPr lang="hr-HR"/>
          </a:p>
        </p:txBody>
      </p:sp>
      <p:sp>
        <p:nvSpPr>
          <p:cNvPr id="8" name="Rezervirano mjesto podnožj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9" name="Rezervirano mjesto broja slajd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202B4-9E9C-4ADB-9FE3-5F44E6437AB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748076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amo naslo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Uredite stil naslova matrice</a:t>
            </a:r>
          </a:p>
        </p:txBody>
      </p:sp>
      <p:sp>
        <p:nvSpPr>
          <p:cNvPr id="3" name="Rezervirano mjesto datum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1FB43-724D-437A-A5E8-1D673BA80D2D}" type="datetimeFigureOut">
              <a:rPr lang="hr-HR" smtClean="0"/>
              <a:t>23.1.2026.</a:t>
            </a:fld>
            <a:endParaRPr lang="hr-HR"/>
          </a:p>
        </p:txBody>
      </p:sp>
      <p:sp>
        <p:nvSpPr>
          <p:cNvPr id="4" name="Rezervirano mjesto podnožj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Rezervirano mjesto broja slajd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202B4-9E9C-4ADB-9FE3-5F44E6437AB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039718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az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datum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1FB43-724D-437A-A5E8-1D673BA80D2D}" type="datetimeFigureOut">
              <a:rPr lang="hr-HR" smtClean="0"/>
              <a:t>23.1.2026.</a:t>
            </a:fld>
            <a:endParaRPr lang="hr-HR"/>
          </a:p>
        </p:txBody>
      </p:sp>
      <p:sp>
        <p:nvSpPr>
          <p:cNvPr id="3" name="Rezervirano mjesto podnožj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202B4-9E9C-4ADB-9FE3-5F44E6437AB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837950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Sadržaj s 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r-HR"/>
              <a:t>Uredite stil naslova matrice</a:t>
            </a:r>
          </a:p>
        </p:txBody>
      </p:sp>
      <p:sp>
        <p:nvSpPr>
          <p:cNvPr id="3" name="Rezervirano mjesto sadržaja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r-HR"/>
              <a:t>Uredite stilove teksta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</a:t>
            </a:r>
          </a:p>
        </p:txBody>
      </p:sp>
      <p:sp>
        <p:nvSpPr>
          <p:cNvPr id="4" name="Rezervirano mjesto teksta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r-HR"/>
              <a:t>Uredite stilove teksta matrice</a:t>
            </a:r>
          </a:p>
        </p:txBody>
      </p:sp>
      <p:sp>
        <p:nvSpPr>
          <p:cNvPr id="5" name="Rezervirano mjesto datum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1FB43-724D-437A-A5E8-1D673BA80D2D}" type="datetimeFigureOut">
              <a:rPr lang="hr-HR" smtClean="0"/>
              <a:t>23.1.2026.</a:t>
            </a:fld>
            <a:endParaRPr lang="hr-HR"/>
          </a:p>
        </p:txBody>
      </p:sp>
      <p:sp>
        <p:nvSpPr>
          <p:cNvPr id="6" name="Rezervirano mjesto podnožj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Rezervirano mjesto broja slajd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202B4-9E9C-4ADB-9FE3-5F44E6437AB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178566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Slika s 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r-HR"/>
              <a:t>Uredite stil naslova matrice</a:t>
            </a:r>
          </a:p>
        </p:txBody>
      </p:sp>
      <p:sp>
        <p:nvSpPr>
          <p:cNvPr id="3" name="Rezervirano mjesto slik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r-HR"/>
          </a:p>
        </p:txBody>
      </p:sp>
      <p:sp>
        <p:nvSpPr>
          <p:cNvPr id="4" name="Rezervirano mjesto teksta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r-HR"/>
              <a:t>Uredite stilove teksta matrice</a:t>
            </a:r>
          </a:p>
        </p:txBody>
      </p:sp>
      <p:sp>
        <p:nvSpPr>
          <p:cNvPr id="5" name="Rezervirano mjesto datum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1FB43-724D-437A-A5E8-1D673BA80D2D}" type="datetimeFigureOut">
              <a:rPr lang="hr-HR" smtClean="0"/>
              <a:t>23.1.2026.</a:t>
            </a:fld>
            <a:endParaRPr lang="hr-HR"/>
          </a:p>
        </p:txBody>
      </p:sp>
      <p:sp>
        <p:nvSpPr>
          <p:cNvPr id="6" name="Rezervirano mjesto podnožj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Rezervirano mjesto broja slajd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202B4-9E9C-4ADB-9FE3-5F44E6437AB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712090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slov i okomit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Uredite stil naslova matrice</a:t>
            </a:r>
          </a:p>
        </p:txBody>
      </p:sp>
      <p:sp>
        <p:nvSpPr>
          <p:cNvPr id="3" name="Rezervirano mjesto okomitog teksta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r-HR"/>
              <a:t>Uredite stilove teksta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</a:t>
            </a:r>
          </a:p>
        </p:txBody>
      </p:sp>
      <p:sp>
        <p:nvSpPr>
          <p:cNvPr id="4" name="Rezervirano mjesto datum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1FB43-724D-437A-A5E8-1D673BA80D2D}" type="datetimeFigureOut">
              <a:rPr lang="hr-HR" smtClean="0"/>
              <a:t>23.1.2026.</a:t>
            </a:fld>
            <a:endParaRPr lang="hr-HR"/>
          </a:p>
        </p:txBody>
      </p:sp>
      <p:sp>
        <p:nvSpPr>
          <p:cNvPr id="5" name="Rezervirano mjesto podnožj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Rezervirano mjesto broja slajd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202B4-9E9C-4ADB-9FE3-5F44E6437AB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620972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Okomiti naslov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komiti naslov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r-HR"/>
              <a:t>Uredite stil naslova matrice</a:t>
            </a:r>
          </a:p>
        </p:txBody>
      </p:sp>
      <p:sp>
        <p:nvSpPr>
          <p:cNvPr id="3" name="Rezervirano mjesto okomitog teksta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r-HR"/>
              <a:t>Uredite stilove teksta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</a:t>
            </a:r>
          </a:p>
        </p:txBody>
      </p:sp>
      <p:sp>
        <p:nvSpPr>
          <p:cNvPr id="4" name="Rezervirano mjesto datum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1FB43-724D-437A-A5E8-1D673BA80D2D}" type="datetimeFigureOut">
              <a:rPr lang="hr-HR" smtClean="0"/>
              <a:t>23.1.2026.</a:t>
            </a:fld>
            <a:endParaRPr lang="hr-HR"/>
          </a:p>
        </p:txBody>
      </p:sp>
      <p:sp>
        <p:nvSpPr>
          <p:cNvPr id="5" name="Rezervirano mjesto podnožj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Rezervirano mjesto broja slajd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202B4-9E9C-4ADB-9FE3-5F44E6437AB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757600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naslova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r-HR"/>
              <a:t>Uredite stil naslova matrice</a:t>
            </a:r>
          </a:p>
        </p:txBody>
      </p:sp>
      <p:sp>
        <p:nvSpPr>
          <p:cNvPr id="3" name="Rezervirano mjesto teksta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r-HR"/>
              <a:t>Uredite stilove teksta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</a:t>
            </a:r>
          </a:p>
        </p:txBody>
      </p:sp>
      <p:sp>
        <p:nvSpPr>
          <p:cNvPr id="4" name="Rezervirano mjesto datum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71FB43-724D-437A-A5E8-1D673BA80D2D}" type="datetimeFigureOut">
              <a:rPr lang="hr-HR" smtClean="0"/>
              <a:t>23.1.2026.</a:t>
            </a:fld>
            <a:endParaRPr lang="hr-HR"/>
          </a:p>
        </p:txBody>
      </p:sp>
      <p:sp>
        <p:nvSpPr>
          <p:cNvPr id="5" name="Rezervirano mjesto podnožj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r-HR"/>
          </a:p>
        </p:txBody>
      </p:sp>
      <p:sp>
        <p:nvSpPr>
          <p:cNvPr id="6" name="Rezervirano mjesto broja slajd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4202B4-9E9C-4ADB-9FE3-5F44E6437AB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5852513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r-Latn-R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Naslov 1"/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hr-HR" sz="4800" b="1">
                <a:highlight>
                  <a:srgbClr val="FFFFFF"/>
                </a:highlight>
              </a:rPr>
              <a:t>Web </a:t>
            </a:r>
            <a:r>
              <a:rPr lang="hr-HR" sz="4800" b="1" err="1">
                <a:highlight>
                  <a:srgbClr val="FFFFFF"/>
                </a:highlight>
              </a:rPr>
              <a:t>Tracking</a:t>
            </a:r>
            <a:r>
              <a:rPr lang="hr-HR" sz="4800" b="1">
                <a:highlight>
                  <a:srgbClr val="FFFFFF"/>
                </a:highlight>
              </a:rPr>
              <a:t> </a:t>
            </a:r>
            <a:r>
              <a:rPr lang="hr-HR" sz="4800" b="1" err="1">
                <a:highlight>
                  <a:srgbClr val="FFFFFF"/>
                </a:highlight>
              </a:rPr>
              <a:t>Forensics</a:t>
            </a:r>
            <a:endParaRPr lang="sr-Latn-RS" sz="4800" err="1"/>
          </a:p>
          <a:p>
            <a:pPr algn="l"/>
            <a:endParaRPr lang="hr-HR" sz="4800">
              <a:solidFill>
                <a:srgbClr val="FFFFFF"/>
              </a:solidFill>
            </a:endParaRPr>
          </a:p>
        </p:txBody>
      </p:sp>
      <p:sp>
        <p:nvSpPr>
          <p:cNvPr id="3" name="Podnaslov 2"/>
          <p:cNvSpPr>
            <a:spLocks noGrp="1"/>
          </p:cNvSpPr>
          <p:nvPr>
            <p:ph type="subTitle" idx="1"/>
          </p:nvPr>
        </p:nvSpPr>
        <p:spPr>
          <a:xfrm>
            <a:off x="1319367" y="5110906"/>
            <a:ext cx="10005951" cy="1458258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l"/>
            <a:r>
              <a:rPr lang="hr-HR" sz="2000"/>
              <a:t>Izradili: Anamarija Ivančan, Jakov Bišćan, Karlo </a:t>
            </a:r>
            <a:r>
              <a:rPr lang="hr-HR" sz="2000" err="1"/>
              <a:t>Jurič</a:t>
            </a:r>
            <a:r>
              <a:rPr lang="hr-HR" sz="2000"/>
              <a:t>, Gabriel </a:t>
            </a:r>
            <a:r>
              <a:rPr lang="hr-HR" sz="2000" err="1"/>
              <a:t>Vesel</a:t>
            </a:r>
            <a:endParaRPr lang="hr-HR" sz="2000"/>
          </a:p>
          <a:p>
            <a:pPr algn="l"/>
            <a:r>
              <a:rPr lang="hr-HR" sz="2000"/>
              <a:t>Tim: 25</a:t>
            </a:r>
          </a:p>
          <a:p>
            <a:pPr algn="l"/>
            <a:r>
              <a:rPr lang="hr-HR" sz="2000"/>
              <a:t>Mentor: doc.dr.sc. Igor Tomičić</a:t>
            </a:r>
          </a:p>
          <a:p>
            <a:pPr algn="l"/>
            <a:r>
              <a:rPr lang="hr-HR" sz="2000"/>
              <a:t>Kolegij: Sigurnost informacijskih sustava</a:t>
            </a:r>
          </a:p>
          <a:p>
            <a:pPr algn="l"/>
            <a:r>
              <a:rPr lang="hr-HR" sz="2000"/>
              <a:t>Studij: Organizacija poslovnih sustava</a:t>
            </a:r>
          </a:p>
          <a:p>
            <a:pPr algn="l"/>
            <a:endParaRPr lang="hr-HR" sz="1100"/>
          </a:p>
        </p:txBody>
      </p:sp>
    </p:spTree>
    <p:extLst>
      <p:ext uri="{BB962C8B-B14F-4D97-AF65-F5344CB8AC3E}">
        <p14:creationId xmlns:p14="http://schemas.microsoft.com/office/powerpoint/2010/main" val="4147140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B4886456-A79B-2B26-6AA0-679623E7D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hr-HR" sz="4000">
                <a:solidFill>
                  <a:srgbClr val="FFFFFF"/>
                </a:solidFill>
              </a:rPr>
              <a:t>Sadržaj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FF6D82A3-2422-2417-3314-2E90414537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r-HR" sz="1700"/>
              <a:t>Uvod</a:t>
            </a:r>
          </a:p>
          <a:p>
            <a:r>
              <a:rPr lang="hr-HR" sz="1700"/>
              <a:t>Alati i tehnologije </a:t>
            </a:r>
          </a:p>
          <a:p>
            <a:r>
              <a:rPr lang="hr-HR" sz="1700"/>
              <a:t>Metodologija analize</a:t>
            </a:r>
          </a:p>
          <a:p>
            <a:r>
              <a:rPr lang="hr-HR" sz="1700"/>
              <a:t>Obrada snimljenog prometa</a:t>
            </a:r>
          </a:p>
          <a:p>
            <a:r>
              <a:rPr lang="hr-HR" sz="1700"/>
              <a:t>Prikaz baze</a:t>
            </a:r>
          </a:p>
          <a:p>
            <a:r>
              <a:rPr lang="hr-HR" sz="1700">
                <a:solidFill>
                  <a:srgbClr val="000000"/>
                </a:solidFill>
                <a:latin typeface="Aptos" panose="020B0004020202020204"/>
              </a:rPr>
              <a:t>Third-party kolačići</a:t>
            </a:r>
            <a:endParaRPr lang="hr-HR" sz="1700"/>
          </a:p>
          <a:p>
            <a:r>
              <a:rPr lang="hr-HR" sz="1700"/>
              <a:t>Detekcija </a:t>
            </a:r>
            <a:r>
              <a:rPr lang="hr-HR" sz="1700" err="1"/>
              <a:t>fingerprintinga</a:t>
            </a:r>
          </a:p>
          <a:p>
            <a:r>
              <a:rPr lang="hr-HR" sz="1700"/>
              <a:t>Facebook </a:t>
            </a:r>
            <a:r>
              <a:rPr lang="hr-HR" sz="1700" err="1"/>
              <a:t>fingerprintig</a:t>
            </a:r>
            <a:r>
              <a:rPr lang="hr-HR" sz="1700"/>
              <a:t> </a:t>
            </a:r>
            <a:r>
              <a:rPr lang="hr-HR" sz="1700" err="1"/>
              <a:t>report</a:t>
            </a:r>
          </a:p>
          <a:p>
            <a:r>
              <a:rPr lang="hr-HR" sz="1700" err="1"/>
              <a:t>Vizualuzacija</a:t>
            </a:r>
            <a:r>
              <a:rPr lang="hr-HR" sz="1700"/>
              <a:t> </a:t>
            </a:r>
            <a:r>
              <a:rPr lang="hr-HR" sz="1700" err="1"/>
              <a:t>facebook</a:t>
            </a:r>
            <a:r>
              <a:rPr lang="hr-HR" sz="1700"/>
              <a:t> praćenja</a:t>
            </a:r>
          </a:p>
          <a:p>
            <a:r>
              <a:rPr lang="hr-HR" sz="1700" err="1"/>
              <a:t>Fingerprinting</a:t>
            </a:r>
            <a:r>
              <a:rPr lang="hr-HR" sz="1700"/>
              <a:t> </a:t>
            </a:r>
            <a:r>
              <a:rPr lang="hr-HR" sz="1700" err="1"/>
              <a:t>third</a:t>
            </a:r>
            <a:r>
              <a:rPr lang="hr-HR" sz="1700"/>
              <a:t>-party odnosi</a:t>
            </a:r>
          </a:p>
          <a:p>
            <a:r>
              <a:rPr lang="hr-HR" sz="1700"/>
              <a:t>Intenzitet Web praćenja</a:t>
            </a:r>
            <a:br>
              <a:rPr lang="hr-HR" sz="1700"/>
            </a:br>
            <a:r>
              <a:rPr lang="hr-HR" sz="1700"/>
              <a:t>Kako funkcionira sistem</a:t>
            </a:r>
          </a:p>
          <a:p>
            <a:r>
              <a:rPr lang="hr-HR" sz="1700"/>
              <a:t>Implementacija</a:t>
            </a:r>
          </a:p>
          <a:p>
            <a:r>
              <a:rPr lang="hr-HR" sz="1700"/>
              <a:t>Stranice po intenzitetu praćenja</a:t>
            </a:r>
          </a:p>
          <a:p>
            <a:r>
              <a:rPr lang="hr-HR" sz="1700"/>
              <a:t>Ključna otkrića i preporuke</a:t>
            </a:r>
          </a:p>
          <a:p>
            <a:endParaRPr lang="hr-HR" sz="1700"/>
          </a:p>
        </p:txBody>
      </p:sp>
    </p:spTree>
    <p:extLst>
      <p:ext uri="{BB962C8B-B14F-4D97-AF65-F5344CB8AC3E}">
        <p14:creationId xmlns:p14="http://schemas.microsoft.com/office/powerpoint/2010/main" val="5316569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E201F69B-45EE-B036-A319-2C00CA824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hr-HR" sz="4000">
                <a:solidFill>
                  <a:srgbClr val="FFFFFF"/>
                </a:solidFill>
              </a:rPr>
              <a:t>Uvod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710FB835-7261-8B4A-2F5C-3D90CB83F8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r-HR" sz="2000">
                <a:ea typeface="+mn-lt"/>
                <a:cs typeface="+mn-lt"/>
              </a:rPr>
              <a:t>Cilj projekta je:</a:t>
            </a:r>
            <a:endParaRPr lang="hr-HR" sz="2000"/>
          </a:p>
          <a:p>
            <a:endParaRPr lang="hr-HR" sz="2000">
              <a:ea typeface="+mn-lt"/>
              <a:cs typeface="+mn-lt"/>
            </a:endParaRPr>
          </a:p>
          <a:p>
            <a:r>
              <a:rPr lang="hr-HR" sz="2000">
                <a:ea typeface="+mn-lt"/>
                <a:cs typeface="+mn-lt"/>
              </a:rPr>
              <a:t>analizirati mrežni promet korisnika tijekom stvarnog surfanja</a:t>
            </a:r>
            <a:endParaRPr lang="hr-HR" sz="2000"/>
          </a:p>
          <a:p>
            <a:r>
              <a:rPr lang="hr-HR" sz="2000">
                <a:ea typeface="+mn-lt"/>
                <a:cs typeface="+mn-lt"/>
              </a:rPr>
              <a:t>identificirati </a:t>
            </a:r>
            <a:r>
              <a:rPr lang="hr-HR" sz="2000" err="1">
                <a:ea typeface="+mn-lt"/>
                <a:cs typeface="+mn-lt"/>
              </a:rPr>
              <a:t>third</a:t>
            </a:r>
            <a:r>
              <a:rPr lang="hr-HR" sz="2000">
                <a:ea typeface="+mn-lt"/>
                <a:cs typeface="+mn-lt"/>
              </a:rPr>
              <a:t>-party kolačiće i njihove domene</a:t>
            </a:r>
            <a:endParaRPr lang="hr-HR" sz="2000"/>
          </a:p>
          <a:p>
            <a:r>
              <a:rPr lang="hr-HR" sz="2000">
                <a:ea typeface="+mn-lt"/>
                <a:cs typeface="+mn-lt"/>
              </a:rPr>
              <a:t>detektirati </a:t>
            </a:r>
            <a:r>
              <a:rPr lang="hr-HR" sz="2000" err="1">
                <a:ea typeface="+mn-lt"/>
                <a:cs typeface="+mn-lt"/>
              </a:rPr>
              <a:t>cookie-less</a:t>
            </a:r>
            <a:r>
              <a:rPr lang="hr-HR" sz="2000">
                <a:ea typeface="+mn-lt"/>
                <a:cs typeface="+mn-lt"/>
              </a:rPr>
              <a:t> praćenje (</a:t>
            </a:r>
            <a:r>
              <a:rPr lang="hr-HR" sz="2000" err="1">
                <a:ea typeface="+mn-lt"/>
                <a:cs typeface="+mn-lt"/>
              </a:rPr>
              <a:t>fingerprinting</a:t>
            </a:r>
            <a:r>
              <a:rPr lang="hr-HR" sz="2000">
                <a:ea typeface="+mn-lt"/>
                <a:cs typeface="+mn-lt"/>
              </a:rPr>
              <a:t>)</a:t>
            </a:r>
            <a:endParaRPr lang="hr-HR" sz="2000"/>
          </a:p>
          <a:p>
            <a:r>
              <a:rPr lang="hr-HR" sz="2000">
                <a:ea typeface="+mn-lt"/>
                <a:cs typeface="+mn-lt"/>
              </a:rPr>
              <a:t>vizualizirati odnose između web stranica i </a:t>
            </a:r>
            <a:r>
              <a:rPr lang="hr-HR" sz="2000" err="1">
                <a:ea typeface="+mn-lt"/>
                <a:cs typeface="+mn-lt"/>
              </a:rPr>
              <a:t>trackera</a:t>
            </a:r>
            <a:endParaRPr lang="hr-HR" sz="2000" err="1"/>
          </a:p>
          <a:p>
            <a:r>
              <a:rPr lang="hr-HR" sz="2000">
                <a:ea typeface="+mn-lt"/>
                <a:cs typeface="+mn-lt"/>
              </a:rPr>
              <a:t>pokazati kako Facebook prati korisnike i izvan svoje platforme</a:t>
            </a:r>
            <a:endParaRPr lang="hr-HR" sz="2000"/>
          </a:p>
          <a:p>
            <a:r>
              <a:rPr lang="hr-HR" sz="2000"/>
              <a:t>prikazati </a:t>
            </a:r>
            <a:r>
              <a:rPr lang="hr-HR" sz="2000" err="1"/>
              <a:t>intezitet</a:t>
            </a:r>
            <a:r>
              <a:rPr lang="hr-HR" sz="2000"/>
              <a:t> </a:t>
            </a:r>
            <a:r>
              <a:rPr lang="hr-HR" sz="2000" err="1"/>
              <a:t>pračenja</a:t>
            </a:r>
            <a:r>
              <a:rPr lang="hr-HR" sz="2000"/>
              <a:t> analiziranih stranica</a:t>
            </a:r>
          </a:p>
          <a:p>
            <a:endParaRPr lang="hr-HR" sz="2000"/>
          </a:p>
          <a:p>
            <a:endParaRPr lang="hr-HR" sz="2000"/>
          </a:p>
          <a:p>
            <a:endParaRPr lang="hr-HR" sz="2000"/>
          </a:p>
        </p:txBody>
      </p:sp>
    </p:spTree>
    <p:extLst>
      <p:ext uri="{BB962C8B-B14F-4D97-AF65-F5344CB8AC3E}">
        <p14:creationId xmlns:p14="http://schemas.microsoft.com/office/powerpoint/2010/main" val="40161346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C5F2F69A-7D44-57BE-303F-F197B04BB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hr-HR" sz="4000">
                <a:solidFill>
                  <a:srgbClr val="FFFFFF"/>
                </a:solidFill>
              </a:rPr>
              <a:t>Alati i tehnologije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AAB4E8CF-6B8D-26B4-337E-23C4C0D070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r-HR" sz="1400" b="1">
                <a:ea typeface="+mn-lt"/>
                <a:cs typeface="+mn-lt"/>
              </a:rPr>
              <a:t>mitmproxy</a:t>
            </a:r>
            <a:r>
              <a:rPr lang="hr-HR" sz="1400">
                <a:ea typeface="+mn-lt"/>
                <a:cs typeface="+mn-lt"/>
              </a:rPr>
              <a:t> – snimanje i dešifriranje HTTPS prometa</a:t>
            </a:r>
            <a:endParaRPr lang="hr-HR" sz="1400"/>
          </a:p>
          <a:p>
            <a:endParaRPr lang="hr-HR" sz="1400">
              <a:ea typeface="+mn-lt"/>
              <a:cs typeface="+mn-lt"/>
            </a:endParaRPr>
          </a:p>
          <a:p>
            <a:r>
              <a:rPr lang="hr-HR" sz="1400" b="1">
                <a:ea typeface="+mn-lt"/>
                <a:cs typeface="+mn-lt"/>
              </a:rPr>
              <a:t>Python</a:t>
            </a:r>
            <a:r>
              <a:rPr lang="hr-HR" sz="1400">
                <a:ea typeface="+mn-lt"/>
                <a:cs typeface="+mn-lt"/>
              </a:rPr>
              <a:t> – obrada i analiza podataka</a:t>
            </a:r>
            <a:endParaRPr lang="hr-HR" sz="1400"/>
          </a:p>
          <a:p>
            <a:endParaRPr lang="hr-HR" sz="1400">
              <a:ea typeface="+mn-lt"/>
              <a:cs typeface="+mn-lt"/>
            </a:endParaRPr>
          </a:p>
          <a:p>
            <a:r>
              <a:rPr lang="hr-HR" sz="1400" b="1">
                <a:ea typeface="+mn-lt"/>
                <a:cs typeface="+mn-lt"/>
              </a:rPr>
              <a:t>SQLite</a:t>
            </a:r>
            <a:r>
              <a:rPr lang="hr-HR" sz="1400">
                <a:ea typeface="+mn-lt"/>
                <a:cs typeface="+mn-lt"/>
              </a:rPr>
              <a:t> – pohrana analiziranih podataka</a:t>
            </a:r>
          </a:p>
          <a:p>
            <a:endParaRPr lang="hr-HR" sz="1400"/>
          </a:p>
          <a:p>
            <a:r>
              <a:rPr lang="hr-HR" sz="1400" b="1">
                <a:ea typeface="+mn-lt"/>
                <a:cs typeface="+mn-lt"/>
              </a:rPr>
              <a:t>D3.js</a:t>
            </a:r>
            <a:r>
              <a:rPr lang="hr-HR" sz="1400">
                <a:ea typeface="+mn-lt"/>
                <a:cs typeface="+mn-lt"/>
              </a:rPr>
              <a:t> – vizualizacija odnosa stranica i trackera</a:t>
            </a:r>
            <a:endParaRPr lang="hr-HR" sz="1400"/>
          </a:p>
          <a:p>
            <a:endParaRPr lang="hr-HR" sz="1400">
              <a:ea typeface="+mn-lt"/>
              <a:cs typeface="+mn-lt"/>
            </a:endParaRPr>
          </a:p>
          <a:p>
            <a:r>
              <a:rPr lang="hr-HR" sz="1400" b="1">
                <a:ea typeface="+mn-lt"/>
                <a:cs typeface="+mn-lt"/>
              </a:rPr>
              <a:t>VS Code</a:t>
            </a:r>
            <a:r>
              <a:rPr lang="hr-HR" sz="1400">
                <a:ea typeface="+mn-lt"/>
                <a:cs typeface="+mn-lt"/>
              </a:rPr>
              <a:t> – razvojno okruženje</a:t>
            </a:r>
            <a:endParaRPr lang="hr-HR" sz="1400"/>
          </a:p>
          <a:p>
            <a:endParaRPr lang="hr-HR" sz="1400">
              <a:ea typeface="+mn-lt"/>
              <a:cs typeface="+mn-lt"/>
            </a:endParaRPr>
          </a:p>
          <a:p>
            <a:r>
              <a:rPr lang="hr-HR" sz="1400">
                <a:ea typeface="+mn-lt"/>
                <a:cs typeface="+mn-lt"/>
              </a:rPr>
              <a:t>Svi korišteni alati su besplatni i open-source.</a:t>
            </a:r>
            <a:endParaRPr lang="hr-HR" sz="1400"/>
          </a:p>
          <a:p>
            <a:endParaRPr lang="hr-HR" sz="1400"/>
          </a:p>
        </p:txBody>
      </p:sp>
    </p:spTree>
    <p:extLst>
      <p:ext uri="{BB962C8B-B14F-4D97-AF65-F5344CB8AC3E}">
        <p14:creationId xmlns:p14="http://schemas.microsoft.com/office/powerpoint/2010/main" val="27456849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D811EB39-EBA6-1F76-3F5C-09DAC8271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hr-HR" sz="4000">
                <a:solidFill>
                  <a:srgbClr val="FFFFFF"/>
                </a:solidFill>
              </a:rPr>
              <a:t>Metodologija analize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33E30628-DB1A-C306-0E41-3DF93DD341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r-HR" sz="2000">
                <a:ea typeface="+mn-lt"/>
                <a:cs typeface="+mn-lt"/>
              </a:rPr>
              <a:t>Analiza se temelji na stvarnom mrežnom prometu web preglednika:</a:t>
            </a:r>
            <a:endParaRPr lang="hr-HR" sz="2000"/>
          </a:p>
          <a:p>
            <a:endParaRPr lang="hr-HR" sz="2000">
              <a:ea typeface="+mn-lt"/>
              <a:cs typeface="+mn-lt"/>
            </a:endParaRPr>
          </a:p>
          <a:p>
            <a:r>
              <a:rPr lang="hr-HR" sz="2000">
                <a:ea typeface="+mn-lt"/>
                <a:cs typeface="+mn-lt"/>
              </a:rPr>
              <a:t>Preglednik je konfiguriran da sav promet prolazi kroz </a:t>
            </a:r>
            <a:r>
              <a:rPr lang="hr-HR" sz="2000" err="1">
                <a:ea typeface="+mn-lt"/>
                <a:cs typeface="+mn-lt"/>
              </a:rPr>
              <a:t>mitmproxy</a:t>
            </a:r>
            <a:endParaRPr lang="hr-HR" sz="2000" err="1"/>
          </a:p>
          <a:p>
            <a:endParaRPr lang="hr-HR" sz="2000">
              <a:ea typeface="+mn-lt"/>
              <a:cs typeface="+mn-lt"/>
            </a:endParaRPr>
          </a:p>
          <a:p>
            <a:r>
              <a:rPr lang="hr-HR" sz="2000">
                <a:ea typeface="+mn-lt"/>
                <a:cs typeface="+mn-lt"/>
              </a:rPr>
              <a:t>Instaliran je lokalni </a:t>
            </a:r>
            <a:r>
              <a:rPr lang="hr-HR" sz="2000" err="1">
                <a:ea typeface="+mn-lt"/>
                <a:cs typeface="+mn-lt"/>
              </a:rPr>
              <a:t>mitmproxy</a:t>
            </a:r>
            <a:r>
              <a:rPr lang="hr-HR" sz="2000">
                <a:ea typeface="+mn-lt"/>
                <a:cs typeface="+mn-lt"/>
              </a:rPr>
              <a:t> certifikat za HTTPS </a:t>
            </a:r>
            <a:r>
              <a:rPr lang="hr-HR" sz="2000" err="1">
                <a:ea typeface="+mn-lt"/>
                <a:cs typeface="+mn-lt"/>
              </a:rPr>
              <a:t>dekripciju</a:t>
            </a:r>
            <a:endParaRPr lang="hr-HR" sz="2000" err="1"/>
          </a:p>
          <a:p>
            <a:endParaRPr lang="hr-HR" sz="2000">
              <a:ea typeface="+mn-lt"/>
              <a:cs typeface="+mn-lt"/>
            </a:endParaRPr>
          </a:p>
          <a:p>
            <a:r>
              <a:rPr lang="hr-HR" sz="2000">
                <a:ea typeface="+mn-lt"/>
                <a:cs typeface="+mn-lt"/>
              </a:rPr>
              <a:t>korisnik se prijavljuje na Facebook,  zatim posjećuje različite vanjske web stranice</a:t>
            </a:r>
            <a:endParaRPr lang="hr-HR" sz="2000"/>
          </a:p>
          <a:p>
            <a:endParaRPr lang="hr-HR" sz="2000">
              <a:ea typeface="+mn-lt"/>
              <a:cs typeface="+mn-lt"/>
            </a:endParaRPr>
          </a:p>
          <a:p>
            <a:r>
              <a:rPr lang="hr-HR" sz="2000">
                <a:ea typeface="+mn-lt"/>
                <a:cs typeface="+mn-lt"/>
              </a:rPr>
              <a:t>sav promet se bilježi u datoteku </a:t>
            </a:r>
            <a:r>
              <a:rPr lang="hr-HR" sz="2000" err="1">
                <a:latin typeface="Consolas"/>
              </a:rPr>
              <a:t>traffic.mitm</a:t>
            </a:r>
            <a:endParaRPr lang="hr-HR" sz="2000" err="1"/>
          </a:p>
          <a:p>
            <a:endParaRPr lang="hr-HR" sz="2000"/>
          </a:p>
        </p:txBody>
      </p:sp>
    </p:spTree>
    <p:extLst>
      <p:ext uri="{BB962C8B-B14F-4D97-AF65-F5344CB8AC3E}">
        <p14:creationId xmlns:p14="http://schemas.microsoft.com/office/powerpoint/2010/main" val="13919184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8D1EF44C-59A8-3C8A-E4D9-4DD1E9D2B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hr-HR" sz="4000">
                <a:solidFill>
                  <a:srgbClr val="FFFFFF"/>
                </a:solidFill>
              </a:rPr>
              <a:t>Obrada snimljenog prometa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833F0C9D-C84F-B199-EB47-9EF9B0094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3977" y="2328494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r-HR" sz="2000">
                <a:ea typeface="+mn-lt"/>
                <a:cs typeface="+mn-lt"/>
              </a:rPr>
              <a:t>Snimljeni promet obrađuje se Python skriptom </a:t>
            </a:r>
            <a:r>
              <a:rPr lang="hr-HR" sz="2000">
                <a:latin typeface="Consolas"/>
                <a:ea typeface="+mn-lt"/>
                <a:cs typeface="+mn-lt"/>
              </a:rPr>
              <a:t>mitm</a:t>
            </a:r>
            <a:r>
              <a:rPr lang="hr-HR" sz="2000">
                <a:latin typeface="Consolas"/>
              </a:rPr>
              <a:t>_to_sqlite.py</a:t>
            </a:r>
            <a:r>
              <a:rPr lang="hr-HR" sz="2000">
                <a:ea typeface="+mn-lt"/>
                <a:cs typeface="+mn-lt"/>
              </a:rPr>
              <a:t>:</a:t>
            </a:r>
            <a:endParaRPr lang="hr-HR" sz="2000"/>
          </a:p>
          <a:p>
            <a:endParaRPr lang="hr-HR" sz="2000">
              <a:ea typeface="+mn-lt"/>
              <a:cs typeface="+mn-lt"/>
            </a:endParaRPr>
          </a:p>
          <a:p>
            <a:r>
              <a:rPr lang="hr-HR" sz="2000">
                <a:ea typeface="+mn-lt"/>
                <a:cs typeface="+mn-lt"/>
              </a:rPr>
              <a:t>izdvajaju se posjećene stranice i njihove domene</a:t>
            </a:r>
            <a:endParaRPr lang="hr-HR" sz="2000"/>
          </a:p>
          <a:p>
            <a:endParaRPr lang="hr-HR" sz="2000">
              <a:ea typeface="+mn-lt"/>
              <a:cs typeface="+mn-lt"/>
            </a:endParaRPr>
          </a:p>
          <a:p>
            <a:r>
              <a:rPr lang="hr-HR" sz="2000">
                <a:ea typeface="+mn-lt"/>
                <a:cs typeface="+mn-lt"/>
              </a:rPr>
              <a:t>analiziraju se Set-</a:t>
            </a:r>
            <a:r>
              <a:rPr lang="hr-HR" sz="2000" err="1">
                <a:ea typeface="+mn-lt"/>
                <a:cs typeface="+mn-lt"/>
              </a:rPr>
              <a:t>Cookie</a:t>
            </a:r>
            <a:r>
              <a:rPr lang="hr-HR" sz="2000">
                <a:ea typeface="+mn-lt"/>
                <a:cs typeface="+mn-lt"/>
              </a:rPr>
              <a:t> zaglavlja kako bi se odvojile informacije o njima i identificirali jesu li </a:t>
            </a:r>
            <a:r>
              <a:rPr lang="hr-HR" sz="2000" err="1">
                <a:ea typeface="+mn-lt"/>
                <a:cs typeface="+mn-lt"/>
              </a:rPr>
              <a:t>third</a:t>
            </a:r>
            <a:r>
              <a:rPr lang="hr-HR" sz="2000">
                <a:ea typeface="+mn-lt"/>
                <a:cs typeface="+mn-lt"/>
              </a:rPr>
              <a:t>-party </a:t>
            </a:r>
            <a:r>
              <a:rPr lang="hr-HR" sz="2000" err="1">
                <a:ea typeface="+mn-lt"/>
                <a:cs typeface="+mn-lt"/>
              </a:rPr>
              <a:t>cookie</a:t>
            </a:r>
            <a:endParaRPr lang="hr-HR" sz="2000" err="1"/>
          </a:p>
          <a:p>
            <a:endParaRPr lang="hr-HR" sz="2000">
              <a:ea typeface="+mn-lt"/>
              <a:cs typeface="+mn-lt"/>
            </a:endParaRPr>
          </a:p>
          <a:p>
            <a:r>
              <a:rPr lang="hr-HR" sz="2000">
                <a:ea typeface="+mn-lt"/>
                <a:cs typeface="+mn-lt"/>
              </a:rPr>
              <a:t>podaci se spremaju u </a:t>
            </a:r>
            <a:r>
              <a:rPr lang="hr-HR" sz="2000" err="1">
                <a:ea typeface="+mn-lt"/>
                <a:cs typeface="+mn-lt"/>
              </a:rPr>
              <a:t>SQLite</a:t>
            </a:r>
            <a:r>
              <a:rPr lang="hr-HR" sz="2000">
                <a:ea typeface="+mn-lt"/>
                <a:cs typeface="+mn-lt"/>
              </a:rPr>
              <a:t> bazu </a:t>
            </a:r>
            <a:r>
              <a:rPr lang="hr-HR" sz="2000" err="1">
                <a:latin typeface="Consolas"/>
              </a:rPr>
              <a:t>cookies.db</a:t>
            </a:r>
            <a:endParaRPr lang="hr-HR" sz="2000" err="1"/>
          </a:p>
          <a:p>
            <a:endParaRPr lang="hr-HR" sz="2000"/>
          </a:p>
        </p:txBody>
      </p:sp>
    </p:spTree>
    <p:extLst>
      <p:ext uri="{BB962C8B-B14F-4D97-AF65-F5344CB8AC3E}">
        <p14:creationId xmlns:p14="http://schemas.microsoft.com/office/powerpoint/2010/main" val="41454010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D8412C14-3202-6832-436B-49DFCB73B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Prikaz baze</a:t>
            </a:r>
          </a:p>
        </p:txBody>
      </p:sp>
      <p:pic>
        <p:nvPicPr>
          <p:cNvPr id="4" name="Rezervirano mjesto sadržaja 3" descr="Slika na kojoj se prikazuje tekst, snimka zaslona, softver, Multimedijski softver&#10;&#10;Sadržaj generiran uz AI možda nije točan.">
            <a:extLst>
              <a:ext uri="{FF2B5EF4-FFF2-40B4-BE49-F238E27FC236}">
                <a16:creationId xmlns:a16="http://schemas.microsoft.com/office/drawing/2014/main" id="{707EA5C3-4FD9-7A72-20B6-DCE933C7C7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34940" y="1024432"/>
            <a:ext cx="7736351" cy="4967200"/>
          </a:xfrm>
          <a:prstGeom prst="rect">
            <a:avLst/>
          </a:prstGeom>
        </p:spPr>
      </p:pic>
      <p:sp>
        <p:nvSpPr>
          <p:cNvPr id="5" name="TekstniOkvir 4">
            <a:extLst>
              <a:ext uri="{FF2B5EF4-FFF2-40B4-BE49-F238E27FC236}">
                <a16:creationId xmlns:a16="http://schemas.microsoft.com/office/drawing/2014/main" id="{C5182A79-8876-33B6-7488-3B4EAD080910}"/>
              </a:ext>
            </a:extLst>
          </p:cNvPr>
          <p:cNvSpPr txBox="1"/>
          <p:nvPr/>
        </p:nvSpPr>
        <p:spPr>
          <a:xfrm>
            <a:off x="833887" y="1703717"/>
            <a:ext cx="2832340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/>
              <a:t>Baza </a:t>
            </a:r>
            <a:r>
              <a:rPr lang="en-US" sz="2000" err="1"/>
              <a:t>sadrži</a:t>
            </a:r>
            <a:r>
              <a:rPr lang="en-US" sz="2000"/>
              <a:t> </a:t>
            </a:r>
            <a:r>
              <a:rPr lang="en-US" sz="2000" err="1"/>
              <a:t>tablice</a:t>
            </a:r>
            <a:r>
              <a:rPr lang="en-US" sz="2000"/>
              <a:t>:</a:t>
            </a:r>
          </a:p>
          <a:p>
            <a:endParaRPr lang="en-US" sz="2000"/>
          </a:p>
          <a:p>
            <a:pPr marL="228600" indent="-228600">
              <a:buFont typeface=""/>
              <a:buChar char="•"/>
            </a:pPr>
            <a:r>
              <a:rPr lang="en-US" sz="2000"/>
              <a:t>pages</a:t>
            </a:r>
          </a:p>
          <a:p>
            <a:pPr marL="228600" indent="-228600">
              <a:buFont typeface=""/>
              <a:buChar char="•"/>
            </a:pPr>
            <a:endParaRPr lang="en-US" sz="2000"/>
          </a:p>
          <a:p>
            <a:pPr marL="228600" indent="-228600">
              <a:buFont typeface=""/>
              <a:buChar char="•"/>
            </a:pPr>
            <a:r>
              <a:rPr lang="en-US" sz="2000"/>
              <a:t>cookies</a:t>
            </a:r>
          </a:p>
          <a:p>
            <a:pPr marL="228600" indent="-228600">
              <a:buFont typeface=""/>
              <a:buChar char="•"/>
            </a:pPr>
            <a:endParaRPr lang="en-US" sz="2000"/>
          </a:p>
          <a:p>
            <a:pPr marL="228600" indent="-228600">
              <a:buFont typeface=""/>
              <a:buChar char="•"/>
            </a:pPr>
            <a:r>
              <a:rPr lang="en-US" sz="2000"/>
              <a:t>trackers</a:t>
            </a:r>
          </a:p>
          <a:p>
            <a:pPr marL="228600" indent="-228600">
              <a:buFont typeface=""/>
              <a:buChar char="•"/>
            </a:pPr>
            <a:endParaRPr lang="en-US" sz="2000"/>
          </a:p>
          <a:p>
            <a:pPr marL="228600" indent="-228600">
              <a:buFont typeface=""/>
              <a:buChar char="•"/>
            </a:pPr>
            <a:r>
              <a:rPr lang="en-US" sz="2000"/>
              <a:t>mapping</a:t>
            </a:r>
          </a:p>
          <a:p>
            <a:pPr algn="ctr"/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6288306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1EAD19FE-ED3C-6C4F-6B1E-3A6BB00F5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566681"/>
            <a:ext cx="9895951" cy="1033669"/>
          </a:xfrm>
        </p:spPr>
        <p:txBody>
          <a:bodyPr>
            <a:normAutofit/>
          </a:bodyPr>
          <a:lstStyle/>
          <a:p>
            <a:r>
              <a:rPr lang="hr-HR" sz="4000">
                <a:solidFill>
                  <a:srgbClr val="FFFFFF"/>
                </a:solidFill>
                <a:ea typeface="+mj-lt"/>
                <a:cs typeface="+mj-lt"/>
              </a:rPr>
              <a:t>Third-party kolačići</a:t>
            </a:r>
            <a:endParaRPr lang="hr-HR" sz="4000">
              <a:solidFill>
                <a:srgbClr val="FFFFFF"/>
              </a:solidFill>
            </a:endParaRPr>
          </a:p>
          <a:p>
            <a:endParaRPr lang="hr-HR" sz="4000">
              <a:solidFill>
                <a:srgbClr val="FFFFFF"/>
              </a:solidFill>
            </a:endParaRP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61BFD9BF-544F-7C1F-5046-FC92610382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r-HR" sz="2000">
                <a:ea typeface="+mn-lt"/>
                <a:cs typeface="+mn-lt"/>
              </a:rPr>
              <a:t>nisu</a:t>
            </a:r>
            <a:r>
              <a:rPr lang="hr-HR" sz="2000">
                <a:latin typeface="Aptos"/>
              </a:rPr>
              <a:t> detektirani </a:t>
            </a:r>
            <a:r>
              <a:rPr lang="hr-HR" sz="2000" err="1">
                <a:latin typeface="Aptos"/>
              </a:rPr>
              <a:t>third</a:t>
            </a:r>
            <a:r>
              <a:rPr lang="hr-HR" sz="2000">
                <a:latin typeface="Aptos"/>
              </a:rPr>
              <a:t>-party kolačići</a:t>
            </a:r>
            <a:endParaRPr lang="hr-HR" sz="2000">
              <a:latin typeface="Consolas"/>
            </a:endParaRPr>
          </a:p>
          <a:p>
            <a:endParaRPr lang="hr-HR" sz="2000">
              <a:latin typeface="Aptos"/>
            </a:endParaRPr>
          </a:p>
          <a:p>
            <a:r>
              <a:rPr lang="hr-HR" sz="2000">
                <a:latin typeface="Aptos"/>
                <a:ea typeface="+mn-lt"/>
                <a:cs typeface="+mn-lt"/>
              </a:rPr>
              <a:t>odsutnost </a:t>
            </a:r>
            <a:r>
              <a:rPr lang="hr-HR" sz="2000" err="1">
                <a:latin typeface="Aptos"/>
                <a:ea typeface="+mn-lt"/>
                <a:cs typeface="+mn-lt"/>
              </a:rPr>
              <a:t>third</a:t>
            </a:r>
            <a:r>
              <a:rPr lang="hr-HR" sz="2000">
                <a:latin typeface="Aptos"/>
                <a:ea typeface="+mn-lt"/>
                <a:cs typeface="+mn-lt"/>
              </a:rPr>
              <a:t>-party kolačića ne isključuje praćenje</a:t>
            </a:r>
          </a:p>
          <a:p>
            <a:endParaRPr lang="hr-HR" sz="2000">
              <a:latin typeface="Aptos"/>
            </a:endParaRPr>
          </a:p>
          <a:p>
            <a:r>
              <a:rPr lang="hr-HR" sz="2000">
                <a:latin typeface="Aptos"/>
              </a:rPr>
              <a:t>praćenje je moguće i </a:t>
            </a:r>
            <a:r>
              <a:rPr lang="hr-HR" sz="2000" err="1">
                <a:latin typeface="Aptos"/>
              </a:rPr>
              <a:t>fingerprinting</a:t>
            </a:r>
            <a:r>
              <a:rPr lang="hr-HR" sz="2000">
                <a:latin typeface="Aptos"/>
              </a:rPr>
              <a:t> tehnikom</a:t>
            </a:r>
          </a:p>
          <a:p>
            <a:endParaRPr lang="hr-HR" sz="2000">
              <a:latin typeface="Aptos"/>
            </a:endParaRPr>
          </a:p>
          <a:p>
            <a:pPr marL="0" indent="0">
              <a:buNone/>
            </a:pPr>
            <a:endParaRPr lang="hr-HR" sz="2000">
              <a:latin typeface="Consolas"/>
            </a:endParaRPr>
          </a:p>
          <a:p>
            <a:endParaRPr lang="hr-HR" sz="2000"/>
          </a:p>
          <a:p>
            <a:endParaRPr lang="hr-HR" sz="2000"/>
          </a:p>
        </p:txBody>
      </p:sp>
    </p:spTree>
    <p:extLst>
      <p:ext uri="{BB962C8B-B14F-4D97-AF65-F5344CB8AC3E}">
        <p14:creationId xmlns:p14="http://schemas.microsoft.com/office/powerpoint/2010/main" val="34574327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8">
            <a:extLst>
              <a:ext uri="{FF2B5EF4-FFF2-40B4-BE49-F238E27FC236}">
                <a16:creationId xmlns:a16="http://schemas.microsoft.com/office/drawing/2014/main" id="{2E17E911-875F-4DE5-8699-99D9F1805A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10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2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4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6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Rectangle 18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E0BCA571-C5C7-03B5-C467-CCAC8A5B8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hr-HR" sz="4000">
                <a:solidFill>
                  <a:srgbClr val="FFFFFF"/>
                </a:solidFill>
              </a:rPr>
              <a:t>Detekcija fingerprintinga 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128D4176-C9BB-3A61-EDB8-F4B83B2329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1727" y="1046137"/>
            <a:ext cx="3025303" cy="5546047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hr-HR" sz="1800">
                <a:latin typeface="Aptos"/>
              </a:rPr>
              <a:t>Provedena je detekcija browser </a:t>
            </a:r>
            <a:r>
              <a:rPr lang="hr-HR" sz="1800" err="1">
                <a:latin typeface="Aptos"/>
              </a:rPr>
              <a:t>fingerprintinga</a:t>
            </a:r>
            <a:r>
              <a:rPr lang="hr-HR" sz="1800">
                <a:latin typeface="Aptos"/>
              </a:rPr>
              <a:t> kao oblika praćenja korisnika koji ne ovisi o kolačićima</a:t>
            </a:r>
          </a:p>
          <a:p>
            <a:endParaRPr lang="hr-HR" sz="1800">
              <a:latin typeface="Aptos"/>
            </a:endParaRPr>
          </a:p>
          <a:p>
            <a:r>
              <a:rPr lang="hr-HR" sz="1800">
                <a:latin typeface="Aptos"/>
              </a:rPr>
              <a:t>Cilj je bio utvrditi koriste li web stranice i treće strane JavaScript tehnike za prepoznavanje korisnika</a:t>
            </a:r>
          </a:p>
          <a:p>
            <a:endParaRPr lang="hr-HR" sz="1800">
              <a:latin typeface="Aptos"/>
            </a:endParaRPr>
          </a:p>
          <a:p>
            <a:r>
              <a:rPr lang="hr-HR" sz="1800">
                <a:latin typeface="Aptos"/>
              </a:rPr>
              <a:t>Analiziran je HTML i JavaScript sadržaj iz snimljenog HTTPS mrežnog prometa</a:t>
            </a:r>
          </a:p>
          <a:p>
            <a:endParaRPr lang="hr-HR" sz="1800">
              <a:latin typeface="Aptos"/>
            </a:endParaRPr>
          </a:p>
          <a:p>
            <a:r>
              <a:rPr lang="hr-HR" sz="1800">
                <a:latin typeface="Aptos"/>
              </a:rPr>
              <a:t>Detekcija je provedena pomoću vlastite Python skripte detect_fingerprinting.py</a:t>
            </a:r>
            <a:endParaRPr lang="hr-HR" sz="1800"/>
          </a:p>
          <a:p>
            <a:endParaRPr lang="hr-HR" sz="1400"/>
          </a:p>
          <a:p>
            <a:endParaRPr lang="hr-HR" sz="1400" b="1"/>
          </a:p>
          <a:p>
            <a:endParaRPr lang="hr-HR" sz="1400"/>
          </a:p>
        </p:txBody>
      </p:sp>
      <p:pic>
        <p:nvPicPr>
          <p:cNvPr id="4" name="Slika 3" descr="Slika na kojoj se prikazuje tekst, snimka zaslona, softver, zaslon&#10;&#10;Sadržaj generiran uz AI možda nije točan.">
            <a:extLst>
              <a:ext uri="{FF2B5EF4-FFF2-40B4-BE49-F238E27FC236}">
                <a16:creationId xmlns:a16="http://schemas.microsoft.com/office/drawing/2014/main" id="{B1DF9EAA-2DA1-5D3C-A540-756DF19CF90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1930" b="-1"/>
          <a:stretch>
            <a:fillRect/>
          </a:stretch>
        </p:blipFill>
        <p:spPr>
          <a:xfrm>
            <a:off x="8109502" y="10"/>
            <a:ext cx="4082498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8516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876E89BB-BA07-52D5-69F4-1A876D133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hr-HR" sz="4000">
                <a:solidFill>
                  <a:srgbClr val="FFFFFF"/>
                </a:solidFill>
              </a:rPr>
              <a:t>Facebook fingerprinting report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A98AD57E-09B1-8F02-9705-8E2A82A871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r-HR" sz="2000" dirty="0"/>
              <a:t>Fokus analize je bio na </a:t>
            </a:r>
            <a:r>
              <a:rPr lang="hr-HR" sz="2000" dirty="0" err="1">
                <a:ea typeface="+mn-lt"/>
                <a:cs typeface="+mn-lt"/>
              </a:rPr>
              <a:t>Facebookovim</a:t>
            </a:r>
            <a:r>
              <a:rPr lang="hr-HR" sz="2000" dirty="0">
                <a:ea typeface="+mn-lt"/>
                <a:cs typeface="+mn-lt"/>
              </a:rPr>
              <a:t> </a:t>
            </a:r>
            <a:r>
              <a:rPr lang="hr-HR" sz="2000" dirty="0" err="1">
                <a:ea typeface="+mn-lt"/>
                <a:cs typeface="+mn-lt"/>
              </a:rPr>
              <a:t>third</a:t>
            </a:r>
            <a:r>
              <a:rPr lang="hr-HR" sz="2000" dirty="0">
                <a:ea typeface="+mn-lt"/>
                <a:cs typeface="+mn-lt"/>
              </a:rPr>
              <a:t>-party domenama (npr. </a:t>
            </a:r>
            <a:r>
              <a:rPr lang="hr-HR" sz="2000" dirty="0">
                <a:latin typeface="Consolas"/>
              </a:rPr>
              <a:t>connect.facebook.net</a:t>
            </a:r>
            <a:r>
              <a:rPr lang="hr-HR" sz="2000" dirty="0">
                <a:ea typeface="+mn-lt"/>
                <a:cs typeface="+mn-lt"/>
              </a:rPr>
              <a:t>, </a:t>
            </a:r>
            <a:r>
              <a:rPr lang="hr-HR" sz="2000" dirty="0">
                <a:latin typeface="Consolas"/>
              </a:rPr>
              <a:t>static.xx.fbcdn.net</a:t>
            </a:r>
            <a:r>
              <a:rPr lang="hr-HR" sz="2000" dirty="0">
                <a:ea typeface="+mn-lt"/>
                <a:cs typeface="+mn-lt"/>
              </a:rPr>
              <a:t>)</a:t>
            </a:r>
          </a:p>
          <a:p>
            <a:endParaRPr lang="hr-HR" sz="2000"/>
          </a:p>
          <a:p>
            <a:r>
              <a:rPr lang="hr-HR" sz="2000" dirty="0"/>
              <a:t>Provjereno je pojavljivanje Facebooka kao treće strane na drugim stranicama, i korištenje </a:t>
            </a:r>
            <a:r>
              <a:rPr lang="hr-HR" sz="2000" dirty="0">
                <a:ea typeface="+mn-lt"/>
                <a:cs typeface="+mn-lt"/>
              </a:rPr>
              <a:t>browser </a:t>
            </a:r>
            <a:r>
              <a:rPr lang="hr-HR" sz="2000" dirty="0" err="1">
                <a:ea typeface="+mn-lt"/>
                <a:cs typeface="+mn-lt"/>
              </a:rPr>
              <a:t>fingerprinting</a:t>
            </a:r>
            <a:r>
              <a:rPr lang="hr-HR" sz="2000" dirty="0">
                <a:ea typeface="+mn-lt"/>
                <a:cs typeface="+mn-lt"/>
              </a:rPr>
              <a:t> umjesto kolačića</a:t>
            </a:r>
          </a:p>
          <a:p>
            <a:endParaRPr lang="hr-HR" sz="2000"/>
          </a:p>
          <a:p>
            <a:r>
              <a:rPr lang="hr-HR" sz="2000" dirty="0"/>
              <a:t>Za svaku stranicu identificirani </a:t>
            </a:r>
            <a:r>
              <a:rPr lang="hr-HR" sz="2000" dirty="0">
                <a:ea typeface="+mn-lt"/>
                <a:cs typeface="+mn-lt"/>
              </a:rPr>
              <a:t>su učitani </a:t>
            </a:r>
            <a:r>
              <a:rPr lang="hr-HR" sz="2000" dirty="0" err="1">
                <a:ea typeface="+mn-lt"/>
                <a:cs typeface="+mn-lt"/>
              </a:rPr>
              <a:t>third</a:t>
            </a:r>
            <a:r>
              <a:rPr lang="hr-HR" sz="2000" dirty="0">
                <a:ea typeface="+mn-lt"/>
                <a:cs typeface="+mn-lt"/>
              </a:rPr>
              <a:t>-party resursi i jesu li korišteni JavaScript API-</a:t>
            </a:r>
            <a:r>
              <a:rPr lang="hr-HR" sz="2000" dirty="0" err="1">
                <a:ea typeface="+mn-lt"/>
                <a:cs typeface="+mn-lt"/>
              </a:rPr>
              <a:t>ji</a:t>
            </a:r>
            <a:r>
              <a:rPr lang="hr-HR" sz="2000" dirty="0">
                <a:ea typeface="+mn-lt"/>
                <a:cs typeface="+mn-lt"/>
              </a:rPr>
              <a:t> povezani s </a:t>
            </a:r>
            <a:r>
              <a:rPr lang="hr-HR" sz="2000" dirty="0" err="1">
                <a:ea typeface="+mn-lt"/>
                <a:cs typeface="+mn-lt"/>
              </a:rPr>
              <a:t>fingerprintingom</a:t>
            </a:r>
            <a:endParaRPr lang="hr-HR" sz="2000" dirty="0" err="1"/>
          </a:p>
          <a:p>
            <a:endParaRPr lang="hr-HR" sz="2000"/>
          </a:p>
        </p:txBody>
      </p:sp>
    </p:spTree>
    <p:extLst>
      <p:ext uri="{BB962C8B-B14F-4D97-AF65-F5344CB8AC3E}">
        <p14:creationId xmlns:p14="http://schemas.microsoft.com/office/powerpoint/2010/main" val="42870266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0271AACD-7755-BFC2-0581-D635C2BDD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516526"/>
            <a:ext cx="9724031" cy="3683358"/>
          </a:xfrm>
        </p:spPr>
        <p:txBody>
          <a:bodyPr vert="horz" lIns="91440" tIns="45720" rIns="91440" bIns="45720" rtlCol="0" anchor="ctr">
            <a:normAutofit lnSpcReduction="10000"/>
          </a:bodyPr>
          <a:lstStyle/>
          <a:p>
            <a:r>
              <a:rPr lang="hr-HR" sz="2000" dirty="0" err="1"/>
              <a:t>Facebookove</a:t>
            </a:r>
            <a:r>
              <a:rPr lang="hr-HR" sz="2000" dirty="0"/>
              <a:t> skripte koriste:  </a:t>
            </a:r>
            <a:r>
              <a:rPr lang="hr-HR" sz="2000" dirty="0" err="1">
                <a:ea typeface="+mn-lt"/>
                <a:cs typeface="+mn-lt"/>
              </a:rPr>
              <a:t>Canvas</a:t>
            </a:r>
            <a:r>
              <a:rPr lang="hr-HR" sz="2000" dirty="0">
                <a:ea typeface="+mn-lt"/>
                <a:cs typeface="+mn-lt"/>
              </a:rPr>
              <a:t>, </a:t>
            </a:r>
            <a:r>
              <a:rPr lang="hr-HR" sz="2000" dirty="0" err="1">
                <a:ea typeface="+mn-lt"/>
                <a:cs typeface="+mn-lt"/>
              </a:rPr>
              <a:t>WebGL</a:t>
            </a:r>
            <a:r>
              <a:rPr lang="hr-HR" sz="2000" dirty="0">
                <a:ea typeface="+mn-lt"/>
                <a:cs typeface="+mn-lt"/>
              </a:rPr>
              <a:t>, </a:t>
            </a:r>
            <a:r>
              <a:rPr lang="hr-HR" sz="2000" dirty="0" err="1">
                <a:ea typeface="+mn-lt"/>
                <a:cs typeface="+mn-lt"/>
              </a:rPr>
              <a:t>AudioContext</a:t>
            </a:r>
            <a:r>
              <a:rPr lang="hr-HR" sz="2000" dirty="0">
                <a:ea typeface="+mn-lt"/>
                <a:cs typeface="+mn-lt"/>
              </a:rPr>
              <a:t>, </a:t>
            </a:r>
            <a:r>
              <a:rPr lang="hr-HR" sz="2000" dirty="0" err="1">
                <a:ea typeface="+mn-lt"/>
                <a:cs typeface="+mn-lt"/>
              </a:rPr>
              <a:t>MediaDevices</a:t>
            </a:r>
            <a:r>
              <a:rPr lang="hr-HR" sz="2000" dirty="0">
                <a:ea typeface="+mn-lt"/>
                <a:cs typeface="+mn-lt"/>
              </a:rPr>
              <a:t> API-je</a:t>
            </a:r>
          </a:p>
          <a:p>
            <a:endParaRPr lang="hr-HR" sz="2000"/>
          </a:p>
          <a:p>
            <a:r>
              <a:rPr lang="hr-HR" sz="2000" dirty="0"/>
              <a:t>I na taj način pristupaju podacima poput: rezolucije ekrana, jeziku sustava, audio karakteristikama uređaja, </a:t>
            </a:r>
            <a:r>
              <a:rPr lang="hr-HR" sz="2000" dirty="0">
                <a:ea typeface="+mn-lt"/>
                <a:cs typeface="+mn-lt"/>
              </a:rPr>
              <a:t>grafičke i hardverske karakteristike, procesorske i memorijske karakteristike, multimedijski uređaji, postavke preglednika</a:t>
            </a:r>
          </a:p>
          <a:p>
            <a:endParaRPr lang="hr-HR" sz="2000"/>
          </a:p>
          <a:p>
            <a:r>
              <a:rPr lang="hr-HR" sz="2000" dirty="0"/>
              <a:t>Kombinacijom podataka moguće je prepoznati korisnika na više web stranica i povezati njegovu aktivnost izvan </a:t>
            </a:r>
            <a:r>
              <a:rPr lang="hr-HR" sz="2000" dirty="0" err="1"/>
              <a:t>facebooka</a:t>
            </a:r>
            <a:endParaRPr lang="hr-HR" sz="2000" dirty="0"/>
          </a:p>
          <a:p>
            <a:endParaRPr lang="hr-HR" sz="2000"/>
          </a:p>
          <a:p>
            <a:r>
              <a:rPr lang="hr-HR" sz="2000" dirty="0">
                <a:ea typeface="+mn-lt"/>
                <a:cs typeface="+mn-lt"/>
              </a:rPr>
              <a:t>Na analiziranim stranicama nisu pronađeni Facebook </a:t>
            </a:r>
            <a:r>
              <a:rPr lang="hr-HR" sz="2000" dirty="0" err="1">
                <a:ea typeface="+mn-lt"/>
                <a:cs typeface="+mn-lt"/>
              </a:rPr>
              <a:t>third</a:t>
            </a:r>
            <a:r>
              <a:rPr lang="hr-HR" sz="2000" dirty="0">
                <a:ea typeface="+mn-lt"/>
                <a:cs typeface="+mn-lt"/>
              </a:rPr>
              <a:t>-party kolačići, </a:t>
            </a:r>
            <a:r>
              <a:rPr lang="hr-HR" sz="2000" dirty="0" err="1">
                <a:ea typeface="+mn-lt"/>
                <a:cs typeface="+mn-lt"/>
              </a:rPr>
              <a:t>fingerprinting</a:t>
            </a:r>
            <a:r>
              <a:rPr lang="hr-HR" sz="2000" dirty="0">
                <a:ea typeface="+mn-lt"/>
                <a:cs typeface="+mn-lt"/>
              </a:rPr>
              <a:t> je glavna metoda praćenja</a:t>
            </a:r>
            <a:endParaRPr lang="hr-HR" sz="2000" dirty="0"/>
          </a:p>
          <a:p>
            <a:endParaRPr lang="hr-HR" sz="2000"/>
          </a:p>
          <a:p>
            <a:endParaRPr lang="hr-HR" sz="2000"/>
          </a:p>
          <a:p>
            <a:pPr marL="0" indent="0">
              <a:buNone/>
            </a:pPr>
            <a:endParaRPr lang="hr-HR" sz="2000"/>
          </a:p>
        </p:txBody>
      </p:sp>
    </p:spTree>
    <p:extLst>
      <p:ext uri="{BB962C8B-B14F-4D97-AF65-F5344CB8AC3E}">
        <p14:creationId xmlns:p14="http://schemas.microsoft.com/office/powerpoint/2010/main" val="26897482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E3596DD-156A-473E-9BB3-C6A29F757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2C46C4D6-C474-4E92-B52E-944C1118F7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962785" cy="6858000"/>
          </a:xfrm>
          <a:custGeom>
            <a:avLst/>
            <a:gdLst>
              <a:gd name="connsiteX0" fmla="*/ 1044839 w 5962785"/>
              <a:gd name="connsiteY0" fmla="*/ 0 h 6858000"/>
              <a:gd name="connsiteX1" fmla="*/ 5962785 w 5962785"/>
              <a:gd name="connsiteY1" fmla="*/ 0 h 6858000"/>
              <a:gd name="connsiteX2" fmla="*/ 5962785 w 5962785"/>
              <a:gd name="connsiteY2" fmla="*/ 6858000 h 6858000"/>
              <a:gd name="connsiteX3" fmla="*/ 1469886 w 5962785"/>
              <a:gd name="connsiteY3" fmla="*/ 6858000 h 6858000"/>
              <a:gd name="connsiteX4" fmla="*/ 1416006 w 5962785"/>
              <a:gd name="connsiteY4" fmla="*/ 6823984 h 6858000"/>
              <a:gd name="connsiteX5" fmla="*/ 1232473 w 5962785"/>
              <a:gd name="connsiteY5" fmla="*/ 6733873 h 6858000"/>
              <a:gd name="connsiteX6" fmla="*/ 1075471 w 5962785"/>
              <a:gd name="connsiteY6" fmla="*/ 6503186 h 6858000"/>
              <a:gd name="connsiteX7" fmla="*/ 1020229 w 5962785"/>
              <a:gd name="connsiteY7" fmla="*/ 6438306 h 6858000"/>
              <a:gd name="connsiteX8" fmla="*/ 883579 w 5962785"/>
              <a:gd name="connsiteY8" fmla="*/ 6351798 h 6858000"/>
              <a:gd name="connsiteX9" fmla="*/ 645167 w 5962785"/>
              <a:gd name="connsiteY9" fmla="*/ 6167969 h 6858000"/>
              <a:gd name="connsiteX10" fmla="*/ 732391 w 5962785"/>
              <a:gd name="connsiteY10" fmla="*/ 6124716 h 6858000"/>
              <a:gd name="connsiteX11" fmla="*/ 985339 w 5962785"/>
              <a:gd name="connsiteY11" fmla="*/ 6236455 h 6858000"/>
              <a:gd name="connsiteX12" fmla="*/ 1168509 w 5962785"/>
              <a:gd name="connsiteY12" fmla="*/ 6265291 h 6858000"/>
              <a:gd name="connsiteX13" fmla="*/ 909746 w 5962785"/>
              <a:gd name="connsiteY13" fmla="*/ 6070649 h 6858000"/>
              <a:gd name="connsiteX14" fmla="*/ 659704 w 5962785"/>
              <a:gd name="connsiteY14" fmla="*/ 5818335 h 6858000"/>
              <a:gd name="connsiteX15" fmla="*/ 851597 w 5962785"/>
              <a:gd name="connsiteY15" fmla="*/ 5865193 h 6858000"/>
              <a:gd name="connsiteX16" fmla="*/ 860319 w 5962785"/>
              <a:gd name="connsiteY16" fmla="*/ 5832753 h 6858000"/>
              <a:gd name="connsiteX17" fmla="*/ 691686 w 5962785"/>
              <a:gd name="connsiteY17" fmla="*/ 5533581 h 6858000"/>
              <a:gd name="connsiteX18" fmla="*/ 610278 w 5962785"/>
              <a:gd name="connsiteY18" fmla="*/ 5411029 h 6858000"/>
              <a:gd name="connsiteX19" fmla="*/ 238123 w 5962785"/>
              <a:gd name="connsiteY19" fmla="*/ 5046976 h 6858000"/>
              <a:gd name="connsiteX20" fmla="*/ 592833 w 5962785"/>
              <a:gd name="connsiteY20" fmla="*/ 5209177 h 6858000"/>
              <a:gd name="connsiteX21" fmla="*/ 226494 w 5962785"/>
              <a:gd name="connsiteY21" fmla="*/ 4855939 h 6858000"/>
              <a:gd name="connsiteX22" fmla="*/ 49139 w 5962785"/>
              <a:gd name="connsiteY22" fmla="*/ 4726177 h 6858000"/>
              <a:gd name="connsiteX23" fmla="*/ 5527 w 5962785"/>
              <a:gd name="connsiteY23" fmla="*/ 4650483 h 6858000"/>
              <a:gd name="connsiteX24" fmla="*/ 84029 w 5962785"/>
              <a:gd name="connsiteY24" fmla="*/ 4632460 h 6858000"/>
              <a:gd name="connsiteX25" fmla="*/ 325347 w 5962785"/>
              <a:gd name="connsiteY25" fmla="*/ 4661296 h 6858000"/>
              <a:gd name="connsiteX26" fmla="*/ 25879 w 5962785"/>
              <a:gd name="connsiteY26" fmla="*/ 4423401 h 6858000"/>
              <a:gd name="connsiteX27" fmla="*/ 249753 w 5962785"/>
              <a:gd name="connsiteY27" fmla="*/ 4459446 h 6858000"/>
              <a:gd name="connsiteX28" fmla="*/ 313718 w 5962785"/>
              <a:gd name="connsiteY28" fmla="*/ 4365729 h 6858000"/>
              <a:gd name="connsiteX29" fmla="*/ 418386 w 5962785"/>
              <a:gd name="connsiteY29" fmla="*/ 4214341 h 6858000"/>
              <a:gd name="connsiteX30" fmla="*/ 491072 w 5962785"/>
              <a:gd name="connsiteY30" fmla="*/ 4131438 h 6858000"/>
              <a:gd name="connsiteX31" fmla="*/ 520147 w 5962785"/>
              <a:gd name="connsiteY31" fmla="*/ 3864706 h 6858000"/>
              <a:gd name="connsiteX32" fmla="*/ 459090 w 5962785"/>
              <a:gd name="connsiteY32" fmla="*/ 3572743 h 6858000"/>
              <a:gd name="connsiteX33" fmla="*/ 290458 w 5962785"/>
              <a:gd name="connsiteY33" fmla="*/ 3424959 h 6858000"/>
              <a:gd name="connsiteX34" fmla="*/ 339884 w 5962785"/>
              <a:gd name="connsiteY34" fmla="*/ 3259153 h 6858000"/>
              <a:gd name="connsiteX35" fmla="*/ 697501 w 5962785"/>
              <a:gd name="connsiteY35" fmla="*/ 3360078 h 6858000"/>
              <a:gd name="connsiteX36" fmla="*/ 165437 w 5962785"/>
              <a:gd name="connsiteY36" fmla="*/ 2967190 h 6858000"/>
              <a:gd name="connsiteX37" fmla="*/ 255568 w 5962785"/>
              <a:gd name="connsiteY37" fmla="*/ 2949167 h 6858000"/>
              <a:gd name="connsiteX38" fmla="*/ 578296 w 5962785"/>
              <a:gd name="connsiteY38" fmla="*/ 2725691 h 6858000"/>
              <a:gd name="connsiteX39" fmla="*/ 595740 w 5962785"/>
              <a:gd name="connsiteY39" fmla="*/ 2714876 h 6858000"/>
              <a:gd name="connsiteX40" fmla="*/ 650982 w 5962785"/>
              <a:gd name="connsiteY40" fmla="*/ 2574301 h 6858000"/>
              <a:gd name="connsiteX41" fmla="*/ 825429 w 5962785"/>
              <a:gd name="connsiteY41" fmla="*/ 2552674 h 6858000"/>
              <a:gd name="connsiteX42" fmla="*/ 970802 w 5962785"/>
              <a:gd name="connsiteY42" fmla="*/ 2585115 h 6858000"/>
              <a:gd name="connsiteX43" fmla="*/ 1127805 w 5962785"/>
              <a:gd name="connsiteY43" fmla="*/ 2545465 h 6858000"/>
              <a:gd name="connsiteX44" fmla="*/ 1267362 w 5962785"/>
              <a:gd name="connsiteY44" fmla="*/ 2563488 h 6858000"/>
              <a:gd name="connsiteX45" fmla="*/ 1386568 w 5962785"/>
              <a:gd name="connsiteY45" fmla="*/ 2538257 h 6858000"/>
              <a:gd name="connsiteX46" fmla="*/ 1270270 w 5962785"/>
              <a:gd name="connsiteY46" fmla="*/ 2419309 h 6858000"/>
              <a:gd name="connsiteX47" fmla="*/ 1107453 w 5962785"/>
              <a:gd name="connsiteY47" fmla="*/ 2419309 h 6858000"/>
              <a:gd name="connsiteX48" fmla="*/ 991154 w 5962785"/>
              <a:gd name="connsiteY48" fmla="*/ 2343615 h 6858000"/>
              <a:gd name="connsiteX49" fmla="*/ 880671 w 5962785"/>
              <a:gd name="connsiteY49" fmla="*/ 2206645 h 6858000"/>
              <a:gd name="connsiteX50" fmla="*/ 491072 w 5962785"/>
              <a:gd name="connsiteY50" fmla="*/ 1986771 h 6858000"/>
              <a:gd name="connsiteX51" fmla="*/ 421293 w 5962785"/>
              <a:gd name="connsiteY51" fmla="*/ 1903868 h 6858000"/>
              <a:gd name="connsiteX52" fmla="*/ 1531941 w 5962785"/>
              <a:gd name="connsiteY52" fmla="*/ 2224667 h 6858000"/>
              <a:gd name="connsiteX53" fmla="*/ 1188861 w 5962785"/>
              <a:gd name="connsiteY53" fmla="*/ 2091301 h 6858000"/>
              <a:gd name="connsiteX54" fmla="*/ 1421458 w 5962785"/>
              <a:gd name="connsiteY54" fmla="*/ 2116532 h 6858000"/>
              <a:gd name="connsiteX55" fmla="*/ 1549386 w 5962785"/>
              <a:gd name="connsiteY55" fmla="*/ 2026420 h 6858000"/>
              <a:gd name="connsiteX56" fmla="*/ 1549386 w 5962785"/>
              <a:gd name="connsiteY56" fmla="*/ 1997584 h 6858000"/>
              <a:gd name="connsiteX57" fmla="*/ 1453440 w 5962785"/>
              <a:gd name="connsiteY57" fmla="*/ 1914682 h 6858000"/>
              <a:gd name="connsiteX58" fmla="*/ 1398198 w 5962785"/>
              <a:gd name="connsiteY58" fmla="*/ 1860614 h 6858000"/>
              <a:gd name="connsiteX59" fmla="*/ 1247011 w 5962785"/>
              <a:gd name="connsiteY59" fmla="*/ 1665972 h 6858000"/>
              <a:gd name="connsiteX60" fmla="*/ 1354586 w 5962785"/>
              <a:gd name="connsiteY60" fmla="*/ 1644345 h 6858000"/>
              <a:gd name="connsiteX61" fmla="*/ 1395290 w 5962785"/>
              <a:gd name="connsiteY61" fmla="*/ 1604696 h 6858000"/>
              <a:gd name="connsiteX62" fmla="*/ 1366216 w 5962785"/>
              <a:gd name="connsiteY62" fmla="*/ 1547025 h 6858000"/>
              <a:gd name="connsiteX63" fmla="*/ 1031858 w 5962785"/>
              <a:gd name="connsiteY63" fmla="*/ 1370405 h 6858000"/>
              <a:gd name="connsiteX64" fmla="*/ 1005692 w 5962785"/>
              <a:gd name="connsiteY64" fmla="*/ 1233435 h 6858000"/>
              <a:gd name="connsiteX65" fmla="*/ 1069655 w 5962785"/>
              <a:gd name="connsiteY65" fmla="*/ 1211808 h 6858000"/>
              <a:gd name="connsiteX66" fmla="*/ 1142342 w 5962785"/>
              <a:gd name="connsiteY66" fmla="*/ 1222621 h 6858000"/>
              <a:gd name="connsiteX67" fmla="*/ 1084193 w 5962785"/>
              <a:gd name="connsiteY67" fmla="*/ 1114487 h 6858000"/>
              <a:gd name="connsiteX68" fmla="*/ 848689 w 5962785"/>
              <a:gd name="connsiteY68" fmla="*/ 1006353 h 6858000"/>
              <a:gd name="connsiteX69" fmla="*/ 805077 w 5962785"/>
              <a:gd name="connsiteY69" fmla="*/ 948681 h 6858000"/>
              <a:gd name="connsiteX70" fmla="*/ 863226 w 5962785"/>
              <a:gd name="connsiteY70" fmla="*/ 919844 h 6858000"/>
              <a:gd name="connsiteX71" fmla="*/ 906838 w 5962785"/>
              <a:gd name="connsiteY71" fmla="*/ 909031 h 6858000"/>
              <a:gd name="connsiteX72" fmla="*/ 5527 w 5962785"/>
              <a:gd name="connsiteY72" fmla="*/ 458471 h 6858000"/>
              <a:gd name="connsiteX73" fmla="*/ 209049 w 5962785"/>
              <a:gd name="connsiteY73" fmla="*/ 454867 h 6858000"/>
              <a:gd name="connsiteX74" fmla="*/ 409664 w 5962785"/>
              <a:gd name="connsiteY74" fmla="*/ 526956 h 6858000"/>
              <a:gd name="connsiteX75" fmla="*/ 621908 w 5962785"/>
              <a:gd name="connsiteY75" fmla="*/ 516143 h 6858000"/>
              <a:gd name="connsiteX76" fmla="*/ 822522 w 5962785"/>
              <a:gd name="connsiteY76" fmla="*/ 552188 h 6858000"/>
              <a:gd name="connsiteX77" fmla="*/ 996969 w 5962785"/>
              <a:gd name="connsiteY77" fmla="*/ 552188 h 6858000"/>
              <a:gd name="connsiteX78" fmla="*/ 834151 w 5962785"/>
              <a:gd name="connsiteY78" fmla="*/ 498120 h 6858000"/>
              <a:gd name="connsiteX79" fmla="*/ 773095 w 5962785"/>
              <a:gd name="connsiteY79" fmla="*/ 408008 h 6858000"/>
              <a:gd name="connsiteX80" fmla="*/ 793447 w 5962785"/>
              <a:gd name="connsiteY80" fmla="*/ 325106 h 6858000"/>
              <a:gd name="connsiteX81" fmla="*/ 860319 w 5962785"/>
              <a:gd name="connsiteY81" fmla="*/ 350336 h 6858000"/>
              <a:gd name="connsiteX82" fmla="*/ 938820 w 5962785"/>
              <a:gd name="connsiteY82" fmla="*/ 444054 h 6858000"/>
              <a:gd name="connsiteX83" fmla="*/ 956265 w 5962785"/>
              <a:gd name="connsiteY83" fmla="*/ 386381 h 6858000"/>
              <a:gd name="connsiteX84" fmla="*/ 1002784 w 5962785"/>
              <a:gd name="connsiteY84" fmla="*/ 343127 h 6858000"/>
              <a:gd name="connsiteX85" fmla="*/ 1270270 w 5962785"/>
              <a:gd name="connsiteY85" fmla="*/ 364755 h 6858000"/>
              <a:gd name="connsiteX86" fmla="*/ 1092915 w 5962785"/>
              <a:gd name="connsiteY86" fmla="*/ 180926 h 6858000"/>
              <a:gd name="connsiteX87" fmla="*/ 979525 w 5962785"/>
              <a:gd name="connsiteY87" fmla="*/ 152090 h 6858000"/>
              <a:gd name="connsiteX88" fmla="*/ 953358 w 5962785"/>
              <a:gd name="connsiteY88" fmla="*/ 76396 h 6858000"/>
              <a:gd name="connsiteX89" fmla="*/ 1005692 w 5962785"/>
              <a:gd name="connsiteY89" fmla="*/ 58373 h 6858000"/>
              <a:gd name="connsiteX90" fmla="*/ 1267362 w 5962785"/>
              <a:gd name="connsiteY90" fmla="*/ 123254 h 6858000"/>
              <a:gd name="connsiteX91" fmla="*/ 1310975 w 5962785"/>
              <a:gd name="connsiteY91" fmla="*/ 98023 h 6858000"/>
              <a:gd name="connsiteX92" fmla="*/ 1159787 w 5962785"/>
              <a:gd name="connsiteY92" fmla="*/ 43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27DC90C3-5D01-74D6-6FD2-5FBC29B5F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-3514"/>
            <a:ext cx="3888526" cy="1800526"/>
          </a:xfrm>
        </p:spPr>
        <p:txBody>
          <a:bodyPr>
            <a:normAutofit/>
          </a:bodyPr>
          <a:lstStyle/>
          <a:p>
            <a:r>
              <a:rPr lang="hr-HR"/>
              <a:t>PDF </a:t>
            </a:r>
            <a:r>
              <a:rPr lang="hr-HR" err="1"/>
              <a:t>report</a:t>
            </a:r>
            <a:r>
              <a:rPr lang="hr-HR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80275D8-06DD-4965-64BB-697D7C9EE8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386929"/>
            <a:ext cx="3888528" cy="5178220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sz="2000" dirty="0" err="1"/>
              <a:t>Prikaz</a:t>
            </a:r>
            <a:r>
              <a:rPr lang="en-US" sz="2000" dirty="0"/>
              <a:t> </a:t>
            </a:r>
            <a:r>
              <a:rPr lang="en-US" sz="2000" dirty="0" err="1"/>
              <a:t>praćenih</a:t>
            </a:r>
            <a:r>
              <a:rPr lang="en-US" sz="2000" dirty="0"/>
              <a:t> </a:t>
            </a:r>
            <a:r>
              <a:rPr lang="en-US" sz="2000" dirty="0" err="1"/>
              <a:t>stranica</a:t>
            </a:r>
            <a:r>
              <a:rPr lang="en-US" sz="2000" dirty="0"/>
              <a:t> od </a:t>
            </a:r>
            <a:r>
              <a:rPr lang="en-US" sz="2000" dirty="0" err="1"/>
              <a:t>strane</a:t>
            </a:r>
            <a:r>
              <a:rPr lang="en-US" sz="2000" dirty="0"/>
              <a:t> </a:t>
            </a:r>
            <a:r>
              <a:rPr lang="en-US" sz="2000" dirty="0" err="1"/>
              <a:t>facebooka</a:t>
            </a:r>
            <a:r>
              <a:rPr lang="en-US" sz="2000" dirty="0"/>
              <a:t> (</a:t>
            </a:r>
            <a:r>
              <a:rPr lang="en-US" sz="2000" dirty="0" err="1"/>
              <a:t>npr</a:t>
            </a:r>
            <a:r>
              <a:rPr lang="en-US" sz="2000" dirty="0"/>
              <a:t>. 24sata, index.hr)</a:t>
            </a:r>
          </a:p>
          <a:p>
            <a:r>
              <a:rPr lang="en-US" sz="2000" dirty="0" err="1"/>
              <a:t>Detektirane</a:t>
            </a:r>
            <a:r>
              <a:rPr lang="en-US" sz="2000" dirty="0"/>
              <a:t> </a:t>
            </a:r>
            <a:r>
              <a:rPr lang="en-US" sz="2000" dirty="0" err="1"/>
              <a:t>fingerprintig</a:t>
            </a:r>
            <a:r>
              <a:rPr lang="en-US" sz="2000" dirty="0"/>
              <a:t> </a:t>
            </a:r>
            <a:r>
              <a:rPr lang="en-US" sz="2000" dirty="0" err="1"/>
              <a:t>tehnike</a:t>
            </a:r>
            <a:r>
              <a:rPr lang="en-US" sz="2000" dirty="0"/>
              <a:t>:  </a:t>
            </a:r>
            <a:r>
              <a:rPr lang="en-US" sz="2000" dirty="0" err="1">
                <a:ea typeface="+mn-lt"/>
                <a:cs typeface="+mn-lt"/>
              </a:rPr>
              <a:t>AudioContext</a:t>
            </a:r>
            <a:r>
              <a:rPr lang="en-US" sz="2000" dirty="0">
                <a:ea typeface="+mn-lt"/>
                <a:cs typeface="+mn-lt"/>
              </a:rPr>
              <a:t> za audio fingerprint,  Canvas </a:t>
            </a:r>
            <a:r>
              <a:rPr lang="en-US" sz="2000" dirty="0" err="1">
                <a:ea typeface="+mn-lt"/>
                <a:cs typeface="+mn-lt"/>
              </a:rPr>
              <a:t>i</a:t>
            </a:r>
            <a:r>
              <a:rPr lang="en-US" sz="2000" dirty="0">
                <a:ea typeface="+mn-lt"/>
                <a:cs typeface="+mn-lt"/>
              </a:rPr>
              <a:t> WebGL za </a:t>
            </a:r>
            <a:r>
              <a:rPr lang="en-US" sz="2000" dirty="0" err="1">
                <a:ea typeface="+mn-lt"/>
                <a:cs typeface="+mn-lt"/>
              </a:rPr>
              <a:t>grafički</a:t>
            </a:r>
            <a:r>
              <a:rPr lang="en-US" sz="2000" dirty="0">
                <a:ea typeface="+mn-lt"/>
                <a:cs typeface="+mn-lt"/>
              </a:rPr>
              <a:t> fingerprint </a:t>
            </a:r>
            <a:r>
              <a:rPr lang="en-US" sz="2000" dirty="0" err="1">
                <a:ea typeface="+mn-lt"/>
                <a:cs typeface="+mn-lt"/>
              </a:rPr>
              <a:t>itd</a:t>
            </a:r>
            <a:r>
              <a:rPr lang="en-US" sz="2000" dirty="0">
                <a:ea typeface="+mn-lt"/>
                <a:cs typeface="+mn-lt"/>
              </a:rPr>
              <a:t>..</a:t>
            </a:r>
            <a:endParaRPr lang="en-US" sz="2000" dirty="0"/>
          </a:p>
          <a:p>
            <a:endParaRPr lang="en-US" sz="2000">
              <a:ea typeface="+mn-lt"/>
              <a:cs typeface="+mn-lt"/>
            </a:endParaRPr>
          </a:p>
          <a:p>
            <a:r>
              <a:rPr lang="en-US" sz="2000" dirty="0" err="1"/>
              <a:t>Prilikom</a:t>
            </a:r>
            <a:r>
              <a:rPr lang="en-US" sz="2000" dirty="0"/>
              <a:t> </a:t>
            </a:r>
            <a:r>
              <a:rPr lang="en-US" sz="2000" dirty="0" err="1"/>
              <a:t>otvaranja</a:t>
            </a:r>
            <a:r>
              <a:rPr lang="en-US" sz="2000" dirty="0"/>
              <a:t> </a:t>
            </a:r>
            <a:r>
              <a:rPr lang="en-US" sz="2000" dirty="0" err="1"/>
              <a:t>npr</a:t>
            </a:r>
            <a:r>
              <a:rPr lang="en-US" sz="2000" dirty="0"/>
              <a:t> 24sata.hr </a:t>
            </a:r>
            <a:r>
              <a:rPr lang="en-US" sz="2000" dirty="0" err="1"/>
              <a:t>stranica</a:t>
            </a:r>
            <a:r>
              <a:rPr lang="en-US" sz="2000" dirty="0"/>
              <a:t> </a:t>
            </a:r>
            <a:r>
              <a:rPr lang="en-US" sz="2000" dirty="0" err="1"/>
              <a:t>učitava</a:t>
            </a:r>
            <a:r>
              <a:rPr lang="en-US" sz="2000" dirty="0"/>
              <a:t> </a:t>
            </a:r>
            <a:r>
              <a:rPr lang="en-US" sz="2000" dirty="0">
                <a:ea typeface="+mn-lt"/>
                <a:cs typeface="+mn-lt"/>
              </a:rPr>
              <a:t>third-party </a:t>
            </a:r>
            <a:r>
              <a:rPr lang="en-US" sz="2000" dirty="0" err="1">
                <a:ea typeface="+mn-lt"/>
                <a:cs typeface="+mn-lt"/>
              </a:rPr>
              <a:t>resurs</a:t>
            </a:r>
            <a:r>
              <a:rPr lang="en-US" sz="2000" dirty="0">
                <a:ea typeface="+mn-lt"/>
                <a:cs typeface="+mn-lt"/>
              </a:rPr>
              <a:t> s </a:t>
            </a:r>
            <a:r>
              <a:rPr lang="en-US" sz="2000" dirty="0" err="1">
                <a:ea typeface="+mn-lt"/>
                <a:cs typeface="+mn-lt"/>
              </a:rPr>
              <a:t>domene</a:t>
            </a:r>
            <a:r>
              <a:rPr lang="en-US" sz="2000" dirty="0">
                <a:ea typeface="+mn-lt"/>
                <a:cs typeface="+mn-lt"/>
              </a:rPr>
              <a:t> connect.facebook.net</a:t>
            </a:r>
            <a:endParaRPr lang="en-US" sz="2000" dirty="0"/>
          </a:p>
          <a:p>
            <a:endParaRPr lang="en-US" sz="2000"/>
          </a:p>
          <a:p>
            <a:r>
              <a:rPr lang="en-US" sz="2000" dirty="0" err="1"/>
              <a:t>Facebookova</a:t>
            </a:r>
            <a:r>
              <a:rPr lang="en-US" sz="2000" dirty="0"/>
              <a:t> </a:t>
            </a:r>
            <a:r>
              <a:rPr lang="en-US" sz="2000" dirty="0" err="1"/>
              <a:t>skripta</a:t>
            </a:r>
            <a:r>
              <a:rPr lang="en-US" sz="2000" dirty="0"/>
              <a:t> </a:t>
            </a:r>
            <a:r>
              <a:rPr lang="en-US" sz="2000" dirty="0" err="1"/>
              <a:t>na</a:t>
            </a:r>
            <a:r>
              <a:rPr lang="en-US" sz="2000" dirty="0"/>
              <a:t> taj </a:t>
            </a:r>
            <a:r>
              <a:rPr lang="en-US" sz="2000" dirty="0" err="1"/>
              <a:t>način</a:t>
            </a:r>
            <a:r>
              <a:rPr lang="en-US" sz="2000" dirty="0"/>
              <a:t> </a:t>
            </a:r>
            <a:r>
              <a:rPr lang="en-US" sz="2000" dirty="0" err="1"/>
              <a:t>vidi</a:t>
            </a:r>
            <a:r>
              <a:rPr lang="en-US" sz="2000" dirty="0"/>
              <a:t> </a:t>
            </a:r>
            <a:r>
              <a:rPr lang="en-US" sz="2000" dirty="0" err="1"/>
              <a:t>karakteristike</a:t>
            </a:r>
            <a:r>
              <a:rPr lang="en-US" sz="2000" dirty="0"/>
              <a:t> </a:t>
            </a:r>
            <a:r>
              <a:rPr lang="en-US" sz="2000" dirty="0" err="1"/>
              <a:t>uređaja</a:t>
            </a:r>
            <a:r>
              <a:rPr lang="en-US" sz="2000" dirty="0"/>
              <a:t>, </a:t>
            </a:r>
            <a:r>
              <a:rPr lang="en-US" sz="2000" dirty="0" err="1"/>
              <a:t>te</a:t>
            </a:r>
            <a:r>
              <a:rPr lang="en-US" sz="2000" dirty="0"/>
              <a:t> s </a:t>
            </a:r>
            <a:r>
              <a:rPr lang="en-US" sz="2000" dirty="0" err="1"/>
              <a:t>koje</a:t>
            </a:r>
            <a:r>
              <a:rPr lang="en-US" sz="2000" dirty="0"/>
              <a:t> </a:t>
            </a:r>
            <a:r>
              <a:rPr lang="en-US" sz="2000" dirty="0" err="1"/>
              <a:t>stranice</a:t>
            </a:r>
            <a:r>
              <a:rPr lang="en-US" sz="2000" dirty="0"/>
              <a:t> </a:t>
            </a:r>
            <a:r>
              <a:rPr lang="en-US" sz="2000" dirty="0" err="1"/>
              <a:t>dolazi</a:t>
            </a:r>
            <a:r>
              <a:rPr lang="en-US" sz="2000" dirty="0"/>
              <a:t>  </a:t>
            </a:r>
            <a:r>
              <a:rPr lang="en-US" sz="2000" dirty="0" err="1"/>
              <a:t>zahtjev</a:t>
            </a:r>
            <a:r>
              <a:rPr lang="en-US" sz="2000" dirty="0"/>
              <a:t> </a:t>
            </a:r>
          </a:p>
          <a:p>
            <a:endParaRPr lang="en-US" sz="2000"/>
          </a:p>
          <a:p>
            <a:endParaRPr lang="en-US" sz="2000"/>
          </a:p>
          <a:p>
            <a:endParaRPr lang="en-US" sz="2000"/>
          </a:p>
        </p:txBody>
      </p:sp>
      <p:pic>
        <p:nvPicPr>
          <p:cNvPr id="4" name="Rezervirano mjesto sadržaja 3" descr="Slika na kojoj se prikazuje tekst, snimka zaslona, Font, pismo&#10;&#10;Sadržaj generiran uz AI možda nije točan.">
            <a:extLst>
              <a:ext uri="{FF2B5EF4-FFF2-40B4-BE49-F238E27FC236}">
                <a16:creationId xmlns:a16="http://schemas.microsoft.com/office/drawing/2014/main" id="{EA0BD20E-4376-6095-FC71-C0568ECCE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1812" y="643234"/>
            <a:ext cx="4745895" cy="5599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0245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3346177D-ADC4-4968-B747-5CFCD390B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8FE73D5E-57AD-0962-418A-6EB8C75C5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5" y="184708"/>
            <a:ext cx="6506011" cy="166756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Vizualizacija Facebook praćenja </a:t>
            </a:r>
          </a:p>
        </p:txBody>
      </p:sp>
      <p:pic>
        <p:nvPicPr>
          <p:cNvPr id="7" name="Rezervirano mjesto sadržaja 6" descr="Slika na kojoj se prikazuje snimka zaslona, dijagram, crta, tekst&#10;&#10;Sadržaj generiran uz AI možda nije točan.">
            <a:extLst>
              <a:ext uri="{FF2B5EF4-FFF2-40B4-BE49-F238E27FC236}">
                <a16:creationId xmlns:a16="http://schemas.microsoft.com/office/drawing/2014/main" id="{03936248-3ABD-F856-3EBF-2D63FB80BA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26674" y="1016460"/>
            <a:ext cx="4616393" cy="4861471"/>
          </a:xfrm>
          <a:prstGeom prst="rect">
            <a:avLst/>
          </a:prstGeom>
        </p:spPr>
      </p:pic>
      <p:sp>
        <p:nvSpPr>
          <p:cNvPr id="5" name="TekstniOkvir 4">
            <a:extLst>
              <a:ext uri="{FF2B5EF4-FFF2-40B4-BE49-F238E27FC236}">
                <a16:creationId xmlns:a16="http://schemas.microsoft.com/office/drawing/2014/main" id="{5F73694D-7FB8-F356-5D66-3B504118DA52}"/>
              </a:ext>
            </a:extLst>
          </p:cNvPr>
          <p:cNvSpPr txBox="1"/>
          <p:nvPr/>
        </p:nvSpPr>
        <p:spPr>
          <a:xfrm>
            <a:off x="175416" y="2569180"/>
            <a:ext cx="5754896" cy="3632892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/>
              <a:t>Ovaj graf prikazuje Facebookovu prisutnost kao treće strane na različitim web stranicama.</a:t>
            </a: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000"/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/>
              <a:t>Crveni čvorovi predstavljaju Facebookove domene (</a:t>
            </a:r>
            <a:r>
              <a:rPr lang="en-US" sz="2000" i="1"/>
              <a:t>facebook.com</a:t>
            </a:r>
            <a:r>
              <a:rPr lang="en-US" sz="2000"/>
              <a:t> i </a:t>
            </a:r>
            <a:r>
              <a:rPr lang="en-US" sz="2000" i="1"/>
              <a:t>connect.facebook.net</a:t>
            </a:r>
            <a:r>
              <a:rPr lang="en-US" sz="2000"/>
              <a:t>), koje služe za učitavanje Facebookovih skripti.</a:t>
            </a: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000"/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/>
              <a:t>Plavi čvorovi predstavljaju web stranice koje korisnik posjećuje (npr. </a:t>
            </a:r>
            <a:r>
              <a:rPr lang="en-US" sz="2000" i="1"/>
              <a:t>vecernji.hr, index.hr, 24sata.hr, dan.co.me</a:t>
            </a:r>
            <a:r>
              <a:rPr lang="en-US" sz="2000"/>
              <a:t>).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844A943-BF79-4FEA-ABB1-3BD54D2366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437CC72-F4A8-4DC3-AFAB-D22C482C8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9466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DEB74A-D70F-30BD-DCB6-580C97093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6485D2B-3CD0-D122-3EDC-58DF85202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171C2AC-6C52-4707-D559-DEAE3560DC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D71FE4A-C47E-E5D4-DF1D-52231B1571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3E473CD-EED3-1082-D719-32D796850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0F075E7-E33E-9A76-203A-E11E890D9D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07A333C3-459B-D28E-8256-7DA286AEF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516526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hr-HR" sz="2000" dirty="0"/>
          </a:p>
          <a:p>
            <a:endParaRPr lang="hr-HR" sz="2000"/>
          </a:p>
          <a:p>
            <a:endParaRPr lang="hr-HR" sz="2000"/>
          </a:p>
          <a:p>
            <a:pPr marL="0" indent="0">
              <a:buNone/>
            </a:pPr>
            <a:endParaRPr lang="hr-HR" sz="20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9AF31D-7AEE-A8C5-390E-56A06E5628CF}"/>
              </a:ext>
            </a:extLst>
          </p:cNvPr>
          <p:cNvSpPr txBox="1"/>
          <p:nvPr/>
        </p:nvSpPr>
        <p:spPr>
          <a:xfrm>
            <a:off x="565850" y="1807959"/>
            <a:ext cx="11192790" cy="34470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GB" sz="2000" err="1">
                <a:ea typeface="+mn-lt"/>
                <a:cs typeface="+mn-lt"/>
              </a:rPr>
              <a:t>Važno</a:t>
            </a:r>
            <a:r>
              <a:rPr lang="en-GB" sz="2000" dirty="0">
                <a:ea typeface="+mn-lt"/>
                <a:cs typeface="+mn-lt"/>
              </a:rPr>
              <a:t> je </a:t>
            </a:r>
            <a:r>
              <a:rPr lang="en-GB" sz="2000" err="1">
                <a:ea typeface="+mn-lt"/>
                <a:cs typeface="+mn-lt"/>
              </a:rPr>
              <a:t>naglasiti</a:t>
            </a:r>
            <a:r>
              <a:rPr lang="en-GB" sz="2000" dirty="0">
                <a:ea typeface="+mn-lt"/>
                <a:cs typeface="+mn-lt"/>
              </a:rPr>
              <a:t> da fingerprinting </a:t>
            </a:r>
            <a:r>
              <a:rPr lang="en-GB" sz="2000" err="1">
                <a:ea typeface="+mn-lt"/>
                <a:cs typeface="+mn-lt"/>
              </a:rPr>
              <a:t>nije</a:t>
            </a:r>
            <a:r>
              <a:rPr lang="en-GB" sz="2000" dirty="0">
                <a:ea typeface="+mn-lt"/>
                <a:cs typeface="+mn-lt"/>
              </a:rPr>
              <a:t> </a:t>
            </a:r>
            <a:r>
              <a:rPr lang="en-GB" sz="2000" err="1">
                <a:ea typeface="+mn-lt"/>
                <a:cs typeface="+mn-lt"/>
              </a:rPr>
              <a:t>jednokratna</a:t>
            </a:r>
            <a:r>
              <a:rPr lang="en-GB" sz="2000" dirty="0">
                <a:ea typeface="+mn-lt"/>
                <a:cs typeface="+mn-lt"/>
              </a:rPr>
              <a:t> </a:t>
            </a:r>
            <a:r>
              <a:rPr lang="en-GB" sz="2000" err="1">
                <a:ea typeface="+mn-lt"/>
                <a:cs typeface="+mn-lt"/>
              </a:rPr>
              <a:t>radnja</a:t>
            </a:r>
            <a:r>
              <a:rPr lang="en-GB" sz="2000" dirty="0">
                <a:ea typeface="+mn-lt"/>
                <a:cs typeface="+mn-lt"/>
              </a:rPr>
              <a:t>, </a:t>
            </a:r>
            <a:r>
              <a:rPr lang="en-GB" sz="2000" err="1">
                <a:ea typeface="+mn-lt"/>
                <a:cs typeface="+mn-lt"/>
              </a:rPr>
              <a:t>nego</a:t>
            </a:r>
            <a:r>
              <a:rPr lang="en-GB" sz="2000" dirty="0">
                <a:ea typeface="+mn-lt"/>
                <a:cs typeface="+mn-lt"/>
              </a:rPr>
              <a:t> </a:t>
            </a:r>
            <a:r>
              <a:rPr lang="en-GB" sz="2000" err="1">
                <a:ea typeface="+mn-lt"/>
                <a:cs typeface="+mn-lt"/>
              </a:rPr>
              <a:t>proces</a:t>
            </a:r>
            <a:r>
              <a:rPr lang="en-GB" sz="2000" dirty="0">
                <a:ea typeface="+mn-lt"/>
                <a:cs typeface="+mn-lt"/>
              </a:rPr>
              <a:t> </a:t>
            </a:r>
            <a:r>
              <a:rPr lang="en-GB" sz="2000" err="1">
                <a:ea typeface="+mn-lt"/>
                <a:cs typeface="+mn-lt"/>
              </a:rPr>
              <a:t>kontinuiranog</a:t>
            </a:r>
            <a:r>
              <a:rPr lang="en-GB" sz="2000" dirty="0">
                <a:ea typeface="+mn-lt"/>
                <a:cs typeface="+mn-lt"/>
              </a:rPr>
              <a:t> </a:t>
            </a:r>
            <a:r>
              <a:rPr lang="en-GB" sz="2000" err="1">
                <a:ea typeface="+mn-lt"/>
                <a:cs typeface="+mn-lt"/>
              </a:rPr>
              <a:t>trackinga</a:t>
            </a:r>
            <a:r>
              <a:rPr lang="en-GB" sz="2000" dirty="0">
                <a:ea typeface="+mn-lt"/>
                <a:cs typeface="+mn-lt"/>
              </a:rPr>
              <a:t>.</a:t>
            </a:r>
          </a:p>
          <a:p>
            <a:pPr marL="285750" indent="-285750">
              <a:buFont typeface="Arial"/>
              <a:buChar char="•"/>
            </a:pPr>
            <a:endParaRPr lang="en-GB" sz="2000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GB" sz="2000" err="1">
                <a:ea typeface="+mn-lt"/>
                <a:cs typeface="+mn-lt"/>
              </a:rPr>
              <a:t>Svaki</a:t>
            </a:r>
            <a:r>
              <a:rPr lang="en-GB" sz="2000" dirty="0">
                <a:ea typeface="+mn-lt"/>
                <a:cs typeface="+mn-lt"/>
              </a:rPr>
              <a:t> put </a:t>
            </a:r>
            <a:r>
              <a:rPr lang="en-GB" sz="2000" err="1">
                <a:ea typeface="+mn-lt"/>
                <a:cs typeface="+mn-lt"/>
              </a:rPr>
              <a:t>kada</a:t>
            </a:r>
            <a:r>
              <a:rPr lang="en-GB" sz="2000" dirty="0">
                <a:ea typeface="+mn-lt"/>
                <a:cs typeface="+mn-lt"/>
              </a:rPr>
              <a:t> se fingerprint </a:t>
            </a:r>
            <a:r>
              <a:rPr lang="en-GB" sz="2000" err="1">
                <a:ea typeface="+mn-lt"/>
                <a:cs typeface="+mn-lt"/>
              </a:rPr>
              <a:t>skripta</a:t>
            </a:r>
            <a:r>
              <a:rPr lang="en-GB" sz="2000" dirty="0">
                <a:ea typeface="+mn-lt"/>
                <a:cs typeface="+mn-lt"/>
              </a:rPr>
              <a:t> </a:t>
            </a:r>
            <a:r>
              <a:rPr lang="en-GB" sz="2000" err="1">
                <a:ea typeface="+mn-lt"/>
                <a:cs typeface="+mn-lt"/>
              </a:rPr>
              <a:t>učita</a:t>
            </a:r>
            <a:r>
              <a:rPr lang="en-GB" sz="2000" dirty="0">
                <a:ea typeface="+mn-lt"/>
                <a:cs typeface="+mn-lt"/>
              </a:rPr>
              <a:t>, </a:t>
            </a:r>
            <a:r>
              <a:rPr lang="en-GB" sz="2000" err="1">
                <a:ea typeface="+mn-lt"/>
                <a:cs typeface="+mn-lt"/>
              </a:rPr>
              <a:t>prikupljeni</a:t>
            </a:r>
            <a:r>
              <a:rPr lang="en-GB" sz="2000" dirty="0">
                <a:ea typeface="+mn-lt"/>
                <a:cs typeface="+mn-lt"/>
              </a:rPr>
              <a:t> </a:t>
            </a:r>
            <a:r>
              <a:rPr lang="en-GB" sz="2000" err="1">
                <a:ea typeface="+mn-lt"/>
                <a:cs typeface="+mn-lt"/>
              </a:rPr>
              <a:t>podaci</a:t>
            </a:r>
            <a:r>
              <a:rPr lang="en-GB" sz="2000" dirty="0">
                <a:ea typeface="+mn-lt"/>
                <a:cs typeface="+mn-lt"/>
              </a:rPr>
              <a:t> se </a:t>
            </a:r>
            <a:r>
              <a:rPr lang="en-GB" sz="2000" err="1">
                <a:ea typeface="+mn-lt"/>
                <a:cs typeface="+mn-lt"/>
              </a:rPr>
              <a:t>mapiraju</a:t>
            </a:r>
            <a:r>
              <a:rPr lang="en-GB" sz="2000" dirty="0">
                <a:ea typeface="+mn-lt"/>
                <a:cs typeface="+mn-lt"/>
              </a:rPr>
              <a:t> </a:t>
            </a:r>
            <a:r>
              <a:rPr lang="en-GB" sz="2000" err="1">
                <a:ea typeface="+mn-lt"/>
                <a:cs typeface="+mn-lt"/>
              </a:rPr>
              <a:t>na</a:t>
            </a:r>
            <a:r>
              <a:rPr lang="en-GB" sz="2000" dirty="0">
                <a:ea typeface="+mn-lt"/>
                <a:cs typeface="+mn-lt"/>
              </a:rPr>
              <a:t> </a:t>
            </a:r>
            <a:r>
              <a:rPr lang="en-GB" sz="2000" err="1">
                <a:ea typeface="+mn-lt"/>
                <a:cs typeface="+mn-lt"/>
              </a:rPr>
              <a:t>postojeći</a:t>
            </a:r>
            <a:r>
              <a:rPr lang="en-GB" sz="2000" dirty="0">
                <a:ea typeface="+mn-lt"/>
                <a:cs typeface="+mn-lt"/>
              </a:rPr>
              <a:t> </a:t>
            </a:r>
            <a:r>
              <a:rPr lang="en-GB" sz="2000" err="1">
                <a:ea typeface="+mn-lt"/>
                <a:cs typeface="+mn-lt"/>
              </a:rPr>
              <a:t>ili</a:t>
            </a:r>
            <a:r>
              <a:rPr lang="en-GB" sz="2000" dirty="0">
                <a:ea typeface="+mn-lt"/>
                <a:cs typeface="+mn-lt"/>
              </a:rPr>
              <a:t> novi </a:t>
            </a:r>
            <a:r>
              <a:rPr lang="en-GB" sz="2000" err="1">
                <a:ea typeface="+mn-lt"/>
                <a:cs typeface="+mn-lt"/>
              </a:rPr>
              <a:t>identitet</a:t>
            </a:r>
            <a:r>
              <a:rPr lang="en-GB" sz="2000" dirty="0">
                <a:ea typeface="+mn-lt"/>
                <a:cs typeface="+mn-lt"/>
              </a:rPr>
              <a:t> u </a:t>
            </a:r>
            <a:r>
              <a:rPr lang="en-GB" sz="2000" err="1">
                <a:ea typeface="+mn-lt"/>
                <a:cs typeface="+mn-lt"/>
              </a:rPr>
              <a:t>bazi</a:t>
            </a:r>
            <a:r>
              <a:rPr lang="en-GB" sz="2000" dirty="0">
                <a:ea typeface="+mn-lt"/>
                <a:cs typeface="+mn-lt"/>
              </a:rPr>
              <a:t> </a:t>
            </a:r>
            <a:r>
              <a:rPr lang="en-GB" sz="2000" err="1">
                <a:ea typeface="+mn-lt"/>
                <a:cs typeface="+mn-lt"/>
              </a:rPr>
              <a:t>podataka</a:t>
            </a:r>
            <a:r>
              <a:rPr lang="en-GB" sz="2000" dirty="0">
                <a:ea typeface="+mn-lt"/>
                <a:cs typeface="+mn-lt"/>
              </a:rPr>
              <a:t>.</a:t>
            </a:r>
          </a:p>
          <a:p>
            <a:pPr marL="285750" indent="-285750">
              <a:buFont typeface="Arial"/>
              <a:buChar char="•"/>
            </a:pPr>
            <a:endParaRPr lang="en-GB" sz="2000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GB" sz="2000" dirty="0">
                <a:ea typeface="+mn-lt"/>
                <a:cs typeface="+mn-lt"/>
              </a:rPr>
              <a:t>Ako fingerprint </a:t>
            </a:r>
            <a:r>
              <a:rPr lang="en-GB" sz="2000" dirty="0" err="1">
                <a:ea typeface="+mn-lt"/>
                <a:cs typeface="+mn-lt"/>
              </a:rPr>
              <a:t>već</a:t>
            </a:r>
            <a:r>
              <a:rPr lang="en-GB" sz="2000" dirty="0">
                <a:ea typeface="+mn-lt"/>
                <a:cs typeface="+mn-lt"/>
              </a:rPr>
              <a:t> </a:t>
            </a:r>
            <a:r>
              <a:rPr lang="en-GB" sz="2000" dirty="0" err="1">
                <a:ea typeface="+mn-lt"/>
                <a:cs typeface="+mn-lt"/>
              </a:rPr>
              <a:t>postoji</a:t>
            </a:r>
            <a:r>
              <a:rPr lang="en-GB" sz="2000" dirty="0">
                <a:ea typeface="+mn-lt"/>
                <a:cs typeface="+mn-lt"/>
              </a:rPr>
              <a:t>, </a:t>
            </a:r>
            <a:r>
              <a:rPr lang="en-GB" sz="2000" dirty="0" err="1">
                <a:ea typeface="+mn-lt"/>
                <a:cs typeface="+mn-lt"/>
              </a:rPr>
              <a:t>aktivnost</a:t>
            </a:r>
            <a:r>
              <a:rPr lang="en-GB" sz="2000" dirty="0">
                <a:ea typeface="+mn-lt"/>
                <a:cs typeface="+mn-lt"/>
              </a:rPr>
              <a:t> </a:t>
            </a:r>
            <a:r>
              <a:rPr lang="en-GB" sz="2000" dirty="0" err="1">
                <a:ea typeface="+mn-lt"/>
                <a:cs typeface="+mn-lt"/>
              </a:rPr>
              <a:t>korisnika</a:t>
            </a:r>
            <a:r>
              <a:rPr lang="en-GB" sz="2000" dirty="0">
                <a:ea typeface="+mn-lt"/>
                <a:cs typeface="+mn-lt"/>
              </a:rPr>
              <a:t> se </a:t>
            </a:r>
            <a:r>
              <a:rPr lang="en-GB" sz="2000" dirty="0" err="1">
                <a:ea typeface="+mn-lt"/>
                <a:cs typeface="+mn-lt"/>
              </a:rPr>
              <a:t>povezuje</a:t>
            </a:r>
            <a:r>
              <a:rPr lang="en-GB" sz="2000" dirty="0">
                <a:ea typeface="+mn-lt"/>
                <a:cs typeface="+mn-lt"/>
              </a:rPr>
              <a:t> s postojećim profilom, a ako ne postoji, kreira se novi </a:t>
            </a:r>
            <a:r>
              <a:rPr lang="en-GB" sz="2000" dirty="0" err="1">
                <a:ea typeface="+mn-lt"/>
                <a:cs typeface="+mn-lt"/>
              </a:rPr>
              <a:t>zapis</a:t>
            </a:r>
            <a:r>
              <a:rPr lang="en-GB" sz="2000" dirty="0">
                <a:ea typeface="+mn-lt"/>
                <a:cs typeface="+mn-lt"/>
              </a:rPr>
              <a:t> u </a:t>
            </a:r>
            <a:r>
              <a:rPr lang="en-GB" sz="2000" dirty="0" err="1">
                <a:ea typeface="+mn-lt"/>
                <a:cs typeface="+mn-lt"/>
              </a:rPr>
              <a:t>bazi</a:t>
            </a:r>
            <a:r>
              <a:rPr lang="en-GB" sz="2000" dirty="0">
                <a:ea typeface="+mn-lt"/>
                <a:cs typeface="+mn-lt"/>
              </a:rPr>
              <a:t>  </a:t>
            </a:r>
            <a:r>
              <a:rPr lang="en-GB" sz="2000" dirty="0" err="1">
                <a:ea typeface="+mn-lt"/>
                <a:cs typeface="+mn-lt"/>
              </a:rPr>
              <a:t>čime</a:t>
            </a:r>
            <a:r>
              <a:rPr lang="en-GB" sz="2000" dirty="0">
                <a:ea typeface="+mn-lt"/>
                <a:cs typeface="+mn-lt"/>
              </a:rPr>
              <a:t> se </a:t>
            </a:r>
            <a:r>
              <a:rPr lang="en-GB" sz="2000" dirty="0" err="1">
                <a:ea typeface="+mn-lt"/>
                <a:cs typeface="+mn-lt"/>
              </a:rPr>
              <a:t>baza</a:t>
            </a:r>
            <a:r>
              <a:rPr lang="en-GB" sz="2000" dirty="0">
                <a:ea typeface="+mn-lt"/>
                <a:cs typeface="+mn-lt"/>
              </a:rPr>
              <a:t> </a:t>
            </a:r>
            <a:r>
              <a:rPr lang="en-GB" sz="2000" dirty="0" err="1">
                <a:ea typeface="+mn-lt"/>
                <a:cs typeface="+mn-lt"/>
              </a:rPr>
              <a:t>fingerprinta</a:t>
            </a:r>
            <a:r>
              <a:rPr lang="en-GB" sz="2000" dirty="0">
                <a:ea typeface="+mn-lt"/>
                <a:cs typeface="+mn-lt"/>
              </a:rPr>
              <a:t> s </a:t>
            </a:r>
            <a:r>
              <a:rPr lang="en-GB" sz="2000" dirty="0" err="1">
                <a:ea typeface="+mn-lt"/>
                <a:cs typeface="+mn-lt"/>
              </a:rPr>
              <a:t>vremenom</a:t>
            </a:r>
            <a:r>
              <a:rPr lang="en-GB" sz="2000" dirty="0">
                <a:ea typeface="+mn-lt"/>
                <a:cs typeface="+mn-lt"/>
              </a:rPr>
              <a:t> </a:t>
            </a:r>
            <a:r>
              <a:rPr lang="en-GB" sz="2000" dirty="0" err="1">
                <a:ea typeface="+mn-lt"/>
                <a:cs typeface="+mn-lt"/>
              </a:rPr>
              <a:t>puni</a:t>
            </a:r>
            <a:r>
              <a:rPr lang="en-GB" sz="2000" dirty="0">
                <a:ea typeface="+mn-lt"/>
                <a:cs typeface="+mn-lt"/>
              </a:rPr>
              <a:t> </a:t>
            </a:r>
            <a:r>
              <a:rPr lang="en-GB" sz="2000" dirty="0" err="1">
                <a:ea typeface="+mn-lt"/>
                <a:cs typeface="+mn-lt"/>
              </a:rPr>
              <a:t>i</a:t>
            </a:r>
            <a:r>
              <a:rPr lang="en-GB" sz="2000" dirty="0">
                <a:ea typeface="+mn-lt"/>
                <a:cs typeface="+mn-lt"/>
              </a:rPr>
              <a:t> </a:t>
            </a:r>
            <a:r>
              <a:rPr lang="en-GB" sz="2000" dirty="0" err="1">
                <a:ea typeface="+mn-lt"/>
                <a:cs typeface="+mn-lt"/>
              </a:rPr>
              <a:t>postaje</a:t>
            </a:r>
            <a:r>
              <a:rPr lang="en-GB" sz="2000" dirty="0">
                <a:ea typeface="+mn-lt"/>
                <a:cs typeface="+mn-lt"/>
              </a:rPr>
              <a:t> </a:t>
            </a:r>
            <a:r>
              <a:rPr lang="en-GB" sz="2000" dirty="0" err="1">
                <a:ea typeface="+mn-lt"/>
                <a:cs typeface="+mn-lt"/>
              </a:rPr>
              <a:t>preciznija</a:t>
            </a:r>
            <a:r>
              <a:rPr lang="en-GB" sz="2000" dirty="0">
                <a:ea typeface="+mn-lt"/>
                <a:cs typeface="+mn-lt"/>
              </a:rPr>
              <a:t>.</a:t>
            </a:r>
          </a:p>
          <a:p>
            <a:pPr marL="285750" indent="-285750">
              <a:buFont typeface="Arial"/>
              <a:buChar char="•"/>
            </a:pPr>
            <a:endParaRPr lang="en-GB" sz="2000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GB" sz="2000" err="1">
                <a:ea typeface="+mn-lt"/>
                <a:cs typeface="+mn-lt"/>
              </a:rPr>
              <a:t>Ovakav</a:t>
            </a:r>
            <a:r>
              <a:rPr lang="en-GB" sz="2000" dirty="0">
                <a:ea typeface="+mn-lt"/>
                <a:cs typeface="+mn-lt"/>
              </a:rPr>
              <a:t> mapping </a:t>
            </a:r>
            <a:r>
              <a:rPr lang="en-GB" sz="2000" err="1">
                <a:ea typeface="+mn-lt"/>
                <a:cs typeface="+mn-lt"/>
              </a:rPr>
              <a:t>omogućuje</a:t>
            </a:r>
            <a:r>
              <a:rPr lang="en-GB" sz="2000" dirty="0">
                <a:ea typeface="+mn-lt"/>
                <a:cs typeface="+mn-lt"/>
              </a:rPr>
              <a:t> </a:t>
            </a:r>
            <a:r>
              <a:rPr lang="en-GB" sz="2000" err="1">
                <a:ea typeface="+mn-lt"/>
                <a:cs typeface="+mn-lt"/>
              </a:rPr>
              <a:t>dugoročno</a:t>
            </a:r>
            <a:r>
              <a:rPr lang="en-GB" sz="2000" dirty="0">
                <a:ea typeface="+mn-lt"/>
                <a:cs typeface="+mn-lt"/>
              </a:rPr>
              <a:t> </a:t>
            </a:r>
            <a:r>
              <a:rPr lang="en-GB" sz="2000" err="1">
                <a:ea typeface="+mn-lt"/>
                <a:cs typeface="+mn-lt"/>
              </a:rPr>
              <a:t>praćenje</a:t>
            </a:r>
            <a:r>
              <a:rPr lang="en-GB" sz="2000" dirty="0">
                <a:ea typeface="+mn-lt"/>
                <a:cs typeface="+mn-lt"/>
              </a:rPr>
              <a:t> </a:t>
            </a:r>
            <a:r>
              <a:rPr lang="en-GB" sz="2000" err="1">
                <a:ea typeface="+mn-lt"/>
                <a:cs typeface="+mn-lt"/>
              </a:rPr>
              <a:t>korisnika</a:t>
            </a:r>
            <a:r>
              <a:rPr lang="en-GB" sz="2000" dirty="0">
                <a:ea typeface="+mn-lt"/>
                <a:cs typeface="+mn-lt"/>
              </a:rPr>
              <a:t> </a:t>
            </a:r>
            <a:r>
              <a:rPr lang="en-GB" sz="2000" err="1">
                <a:ea typeface="+mn-lt"/>
                <a:cs typeface="+mn-lt"/>
              </a:rPr>
              <a:t>čak</a:t>
            </a:r>
            <a:r>
              <a:rPr lang="en-GB" sz="2000" dirty="0">
                <a:ea typeface="+mn-lt"/>
                <a:cs typeface="+mn-lt"/>
              </a:rPr>
              <a:t> </a:t>
            </a:r>
            <a:r>
              <a:rPr lang="en-GB" sz="2000" err="1">
                <a:ea typeface="+mn-lt"/>
                <a:cs typeface="+mn-lt"/>
              </a:rPr>
              <a:t>i</a:t>
            </a:r>
            <a:r>
              <a:rPr lang="en-GB" sz="2000" dirty="0">
                <a:ea typeface="+mn-lt"/>
                <a:cs typeface="+mn-lt"/>
              </a:rPr>
              <a:t> </a:t>
            </a:r>
            <a:r>
              <a:rPr lang="en-GB" sz="2000" err="1">
                <a:ea typeface="+mn-lt"/>
                <a:cs typeface="+mn-lt"/>
              </a:rPr>
              <a:t>ako</a:t>
            </a:r>
            <a:r>
              <a:rPr lang="en-GB" sz="2000" dirty="0">
                <a:ea typeface="+mn-lt"/>
                <a:cs typeface="+mn-lt"/>
              </a:rPr>
              <a:t> </a:t>
            </a:r>
            <a:r>
              <a:rPr lang="en-GB" sz="2000" err="1">
                <a:ea typeface="+mn-lt"/>
                <a:cs typeface="+mn-lt"/>
              </a:rPr>
              <a:t>briše</a:t>
            </a:r>
            <a:r>
              <a:rPr lang="en-GB" sz="2000" dirty="0">
                <a:ea typeface="+mn-lt"/>
                <a:cs typeface="+mn-lt"/>
              </a:rPr>
              <a:t> </a:t>
            </a:r>
            <a:r>
              <a:rPr lang="en-GB" sz="2000" err="1">
                <a:ea typeface="+mn-lt"/>
                <a:cs typeface="+mn-lt"/>
              </a:rPr>
              <a:t>kolačiće</a:t>
            </a:r>
            <a:r>
              <a:rPr lang="en-GB" sz="2000" dirty="0">
                <a:ea typeface="+mn-lt"/>
                <a:cs typeface="+mn-lt"/>
              </a:rPr>
              <a:t>, </a:t>
            </a:r>
            <a:r>
              <a:rPr lang="en-GB" sz="2000" err="1">
                <a:ea typeface="+mn-lt"/>
                <a:cs typeface="+mn-lt"/>
              </a:rPr>
              <a:t>koristi</a:t>
            </a:r>
            <a:r>
              <a:rPr lang="en-GB" sz="2000" dirty="0">
                <a:ea typeface="+mn-lt"/>
                <a:cs typeface="+mn-lt"/>
              </a:rPr>
              <a:t> </a:t>
            </a:r>
            <a:r>
              <a:rPr lang="en-GB" sz="2000" err="1">
                <a:ea typeface="+mn-lt"/>
                <a:cs typeface="+mn-lt"/>
              </a:rPr>
              <a:t>inkognito</a:t>
            </a:r>
            <a:r>
              <a:rPr lang="en-GB" sz="2000" dirty="0">
                <a:ea typeface="+mn-lt"/>
                <a:cs typeface="+mn-lt"/>
              </a:rPr>
              <a:t> mod </a:t>
            </a:r>
            <a:r>
              <a:rPr lang="en-GB" sz="2000" err="1">
                <a:ea typeface="+mn-lt"/>
                <a:cs typeface="+mn-lt"/>
              </a:rPr>
              <a:t>ili</a:t>
            </a:r>
            <a:r>
              <a:rPr lang="en-GB" sz="2000" dirty="0">
                <a:ea typeface="+mn-lt"/>
                <a:cs typeface="+mn-lt"/>
              </a:rPr>
              <a:t> </a:t>
            </a:r>
            <a:r>
              <a:rPr lang="en-GB" sz="2000" err="1">
                <a:ea typeface="+mn-lt"/>
                <a:cs typeface="+mn-lt"/>
              </a:rPr>
              <a:t>mijenja</a:t>
            </a:r>
            <a:r>
              <a:rPr lang="en-GB" sz="2000" dirty="0">
                <a:ea typeface="+mn-lt"/>
                <a:cs typeface="+mn-lt"/>
              </a:rPr>
              <a:t> IP </a:t>
            </a:r>
            <a:r>
              <a:rPr lang="en-GB" sz="2000" err="1">
                <a:ea typeface="+mn-lt"/>
                <a:cs typeface="+mn-lt"/>
              </a:rPr>
              <a:t>adresu</a:t>
            </a:r>
            <a:r>
              <a:rPr lang="en-GB" sz="2000" dirty="0">
                <a:ea typeface="+mn-lt"/>
                <a:cs typeface="+mn-lt"/>
              </a:rPr>
              <a:t>.</a:t>
            </a:r>
            <a:endParaRPr lang="en-GB" sz="2000"/>
          </a:p>
          <a:p>
            <a:pPr algn="l"/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0AB06E-E388-0108-CCCB-DEB6B2538D0F}"/>
              </a:ext>
            </a:extLst>
          </p:cNvPr>
          <p:cNvSpPr txBox="1"/>
          <p:nvPr/>
        </p:nvSpPr>
        <p:spPr>
          <a:xfrm>
            <a:off x="372632" y="220819"/>
            <a:ext cx="10226705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4000" dirty="0">
                <a:solidFill>
                  <a:schemeClr val="bg1"/>
                </a:solidFill>
                <a:ea typeface="+mn-lt"/>
                <a:cs typeface="+mn-lt"/>
              </a:rPr>
              <a:t>Fingerprinting, tracking </a:t>
            </a:r>
            <a:r>
              <a:rPr lang="en-GB" sz="4000" err="1">
                <a:solidFill>
                  <a:schemeClr val="bg1"/>
                </a:solidFill>
                <a:ea typeface="+mn-lt"/>
                <a:cs typeface="+mn-lt"/>
              </a:rPr>
              <a:t>i</a:t>
            </a:r>
            <a:r>
              <a:rPr lang="en-GB" sz="4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GB" sz="4000" err="1">
                <a:solidFill>
                  <a:schemeClr val="bg1"/>
                </a:solidFill>
                <a:ea typeface="+mn-lt"/>
                <a:cs typeface="+mn-lt"/>
              </a:rPr>
              <a:t>punjenje</a:t>
            </a:r>
            <a:r>
              <a:rPr lang="en-GB" sz="4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GB" sz="4000" err="1">
                <a:solidFill>
                  <a:schemeClr val="bg1"/>
                </a:solidFill>
                <a:ea typeface="+mn-lt"/>
                <a:cs typeface="+mn-lt"/>
              </a:rPr>
              <a:t>baze</a:t>
            </a:r>
            <a:endParaRPr lang="en-US" sz="4000" err="1">
              <a:solidFill>
                <a:schemeClr val="bg1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457326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93CA4FF2-C454-7F9D-40F4-B3F8B970C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0"/>
            <a:ext cx="5323715" cy="16429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Fingerprinting third-party odnosi</a:t>
            </a:r>
          </a:p>
          <a:p>
            <a:endParaRPr lang="en-US" sz="40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TekstniOkvir 4">
            <a:extLst>
              <a:ext uri="{FF2B5EF4-FFF2-40B4-BE49-F238E27FC236}">
                <a16:creationId xmlns:a16="http://schemas.microsoft.com/office/drawing/2014/main" id="{A36D7414-8EFD-C214-A06F-D76BDB8F50A4}"/>
              </a:ext>
            </a:extLst>
          </p:cNvPr>
          <p:cNvSpPr txBox="1"/>
          <p:nvPr/>
        </p:nvSpPr>
        <p:spPr>
          <a:xfrm>
            <a:off x="1144923" y="2405894"/>
            <a:ext cx="5315189" cy="3535083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Graf prikazuje web stranice rangirane prema broju detektiranih fingerprinting trackera.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br>
              <a:rPr lang="en-US" sz="2000"/>
            </a:br>
            <a:r>
              <a:rPr lang="en-US" sz="2000"/>
              <a:t>Veći stupci označavaju intenzivnije praćenje korisnika putem third-party skripti.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br>
              <a:rPr lang="en-US" sz="2000"/>
            </a:br>
            <a:r>
              <a:rPr lang="en-US" sz="2000"/>
              <a:t>Vidljivo je da informativni portali često imaju više fingerprinting trackera od samih platformi poput Facebooka.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Rezervirano mjesto sadržaja 3" descr="Slika na kojoj se prikazuje tekst, dijagram, snimka zaslona, crta&#10;&#10;Sadržaj generiran uz AI možda nije točan.">
            <a:extLst>
              <a:ext uri="{FF2B5EF4-FFF2-40B4-BE49-F238E27FC236}">
                <a16:creationId xmlns:a16="http://schemas.microsoft.com/office/drawing/2014/main" id="{03ABF337-0A82-1C71-063A-CBBC0F2A6D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20987" y="898195"/>
            <a:ext cx="3905232" cy="5071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4973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636656-2746-B928-5A28-AC2F162B3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GB" sz="4000" dirty="0" err="1">
                <a:solidFill>
                  <a:srgbClr val="FFFFFF"/>
                </a:solidFill>
              </a:rPr>
              <a:t>Sprječavanje</a:t>
            </a:r>
            <a:r>
              <a:rPr lang="en-GB" sz="4000" dirty="0">
                <a:solidFill>
                  <a:srgbClr val="FFFFFF"/>
                </a:solidFill>
              </a:rPr>
              <a:t> </a:t>
            </a:r>
            <a:r>
              <a:rPr lang="en-GB" sz="4000" dirty="0" err="1">
                <a:solidFill>
                  <a:srgbClr val="FFFFFF"/>
                </a:solidFill>
              </a:rPr>
              <a:t>fingerprintinga</a:t>
            </a:r>
            <a:endParaRPr lang="en-GB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86FF1F-F383-9824-3008-F29DF32904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z="2000" dirty="0">
                <a:ea typeface="+mn-lt"/>
                <a:cs typeface="+mn-lt"/>
              </a:rPr>
              <a:t>fingerprinting se ne </a:t>
            </a:r>
            <a:r>
              <a:rPr lang="en-GB" sz="2000" dirty="0" err="1">
                <a:ea typeface="+mn-lt"/>
                <a:cs typeface="+mn-lt"/>
              </a:rPr>
              <a:t>može</a:t>
            </a:r>
            <a:r>
              <a:rPr lang="en-GB" sz="2000" dirty="0">
                <a:ea typeface="+mn-lt"/>
                <a:cs typeface="+mn-lt"/>
              </a:rPr>
              <a:t> u </a:t>
            </a:r>
            <a:r>
              <a:rPr lang="en-GB" sz="2000" dirty="0" err="1">
                <a:ea typeface="+mn-lt"/>
                <a:cs typeface="+mn-lt"/>
              </a:rPr>
              <a:t>potpunosti</a:t>
            </a:r>
            <a:r>
              <a:rPr lang="en-GB" sz="2000" dirty="0">
                <a:ea typeface="+mn-lt"/>
                <a:cs typeface="+mn-lt"/>
              </a:rPr>
              <a:t> </a:t>
            </a:r>
            <a:r>
              <a:rPr lang="en-GB" sz="2000" dirty="0" err="1">
                <a:ea typeface="+mn-lt"/>
                <a:cs typeface="+mn-lt"/>
              </a:rPr>
              <a:t>spriječiti</a:t>
            </a:r>
            <a:r>
              <a:rPr lang="en-GB" sz="2000" dirty="0">
                <a:ea typeface="+mn-lt"/>
                <a:cs typeface="+mn-lt"/>
              </a:rPr>
              <a:t>, </a:t>
            </a:r>
            <a:r>
              <a:rPr lang="en-GB" sz="2000" dirty="0" err="1">
                <a:ea typeface="+mn-lt"/>
                <a:cs typeface="+mn-lt"/>
              </a:rPr>
              <a:t>ali</a:t>
            </a:r>
            <a:r>
              <a:rPr lang="en-GB" sz="2000" dirty="0">
                <a:ea typeface="+mn-lt"/>
                <a:cs typeface="+mn-lt"/>
              </a:rPr>
              <a:t> </a:t>
            </a:r>
            <a:r>
              <a:rPr lang="en-GB" sz="2000" dirty="0" err="1">
                <a:ea typeface="+mn-lt"/>
                <a:cs typeface="+mn-lt"/>
              </a:rPr>
              <a:t>njegova</a:t>
            </a:r>
            <a:r>
              <a:rPr lang="en-GB" sz="2000" dirty="0">
                <a:ea typeface="+mn-lt"/>
                <a:cs typeface="+mn-lt"/>
              </a:rPr>
              <a:t> </a:t>
            </a:r>
            <a:r>
              <a:rPr lang="en-GB" sz="2000" dirty="0" err="1">
                <a:ea typeface="+mn-lt"/>
                <a:cs typeface="+mn-lt"/>
              </a:rPr>
              <a:t>učinkovitost</a:t>
            </a:r>
            <a:r>
              <a:rPr lang="en-GB" sz="2000" dirty="0">
                <a:ea typeface="+mn-lt"/>
                <a:cs typeface="+mn-lt"/>
              </a:rPr>
              <a:t> se </a:t>
            </a:r>
            <a:r>
              <a:rPr lang="en-GB" sz="2000" dirty="0" err="1">
                <a:ea typeface="+mn-lt"/>
                <a:cs typeface="+mn-lt"/>
              </a:rPr>
              <a:t>može</a:t>
            </a:r>
            <a:r>
              <a:rPr lang="en-GB" sz="2000" dirty="0">
                <a:ea typeface="+mn-lt"/>
                <a:cs typeface="+mn-lt"/>
              </a:rPr>
              <a:t> </a:t>
            </a:r>
            <a:r>
              <a:rPr lang="en-GB" sz="2000" dirty="0" err="1">
                <a:ea typeface="+mn-lt"/>
                <a:cs typeface="+mn-lt"/>
              </a:rPr>
              <a:t>smanjiti</a:t>
            </a:r>
            <a:r>
              <a:rPr lang="en-GB" sz="2000" dirty="0">
                <a:ea typeface="+mn-lt"/>
                <a:cs typeface="+mn-lt"/>
              </a:rPr>
              <a:t> </a:t>
            </a:r>
            <a:r>
              <a:rPr lang="en-GB" sz="2000" dirty="0" err="1">
                <a:ea typeface="+mn-lt"/>
                <a:cs typeface="+mn-lt"/>
              </a:rPr>
              <a:t>korištenjem</a:t>
            </a:r>
            <a:r>
              <a:rPr lang="en-GB" sz="2000" dirty="0">
                <a:ea typeface="+mn-lt"/>
                <a:cs typeface="+mn-lt"/>
              </a:rPr>
              <a:t> </a:t>
            </a:r>
            <a:r>
              <a:rPr lang="en-GB" sz="2000" dirty="0" err="1">
                <a:ea typeface="+mn-lt"/>
                <a:cs typeface="+mn-lt"/>
              </a:rPr>
              <a:t>preglednika</a:t>
            </a:r>
            <a:r>
              <a:rPr lang="en-GB" sz="2000" dirty="0">
                <a:ea typeface="+mn-lt"/>
                <a:cs typeface="+mn-lt"/>
              </a:rPr>
              <a:t> </a:t>
            </a:r>
            <a:r>
              <a:rPr lang="en-GB" sz="2000" dirty="0" err="1">
                <a:ea typeface="+mn-lt"/>
                <a:cs typeface="+mn-lt"/>
              </a:rPr>
              <a:t>i</a:t>
            </a:r>
            <a:r>
              <a:rPr lang="en-GB" sz="2000" dirty="0">
                <a:ea typeface="+mn-lt"/>
                <a:cs typeface="+mn-lt"/>
              </a:rPr>
              <a:t> alata koji </a:t>
            </a:r>
            <a:r>
              <a:rPr lang="en-GB" sz="2000" dirty="0" err="1">
                <a:ea typeface="+mn-lt"/>
                <a:cs typeface="+mn-lt"/>
              </a:rPr>
              <a:t>ograničavaju</a:t>
            </a:r>
            <a:r>
              <a:rPr lang="en-GB" sz="2000" dirty="0">
                <a:ea typeface="+mn-lt"/>
                <a:cs typeface="+mn-lt"/>
              </a:rPr>
              <a:t> </a:t>
            </a:r>
            <a:r>
              <a:rPr lang="en-GB" sz="2000" dirty="0" err="1">
                <a:ea typeface="+mn-lt"/>
                <a:cs typeface="+mn-lt"/>
              </a:rPr>
              <a:t>pristup</a:t>
            </a:r>
            <a:r>
              <a:rPr lang="en-GB" sz="2000" dirty="0">
                <a:ea typeface="+mn-lt"/>
                <a:cs typeface="+mn-lt"/>
              </a:rPr>
              <a:t> JavaScript API-</a:t>
            </a:r>
            <a:r>
              <a:rPr lang="en-GB" sz="2000" dirty="0" err="1">
                <a:ea typeface="+mn-lt"/>
                <a:cs typeface="+mn-lt"/>
              </a:rPr>
              <a:t>jima</a:t>
            </a:r>
            <a:r>
              <a:rPr lang="en-GB" sz="2000" dirty="0">
                <a:ea typeface="+mn-lt"/>
                <a:cs typeface="+mn-lt"/>
              </a:rPr>
              <a:t> </a:t>
            </a:r>
            <a:r>
              <a:rPr lang="en-GB" sz="2000" dirty="0" err="1">
                <a:ea typeface="+mn-lt"/>
                <a:cs typeface="+mn-lt"/>
              </a:rPr>
              <a:t>i</a:t>
            </a:r>
            <a:r>
              <a:rPr lang="en-GB" sz="2000" dirty="0">
                <a:ea typeface="+mn-lt"/>
                <a:cs typeface="+mn-lt"/>
              </a:rPr>
              <a:t> </a:t>
            </a:r>
            <a:r>
              <a:rPr lang="en-GB" sz="2000" dirty="0" err="1">
                <a:ea typeface="+mn-lt"/>
                <a:cs typeface="+mn-lt"/>
              </a:rPr>
              <a:t>smanjuju</a:t>
            </a:r>
            <a:r>
              <a:rPr lang="en-GB" sz="2000" dirty="0">
                <a:ea typeface="+mn-lt"/>
                <a:cs typeface="+mn-lt"/>
              </a:rPr>
              <a:t> </a:t>
            </a:r>
            <a:r>
              <a:rPr lang="en-GB" sz="2000" dirty="0" err="1">
                <a:ea typeface="+mn-lt"/>
                <a:cs typeface="+mn-lt"/>
              </a:rPr>
              <a:t>jedinstvenost</a:t>
            </a:r>
            <a:r>
              <a:rPr lang="en-GB" sz="2000" dirty="0">
                <a:ea typeface="+mn-lt"/>
                <a:cs typeface="+mn-lt"/>
              </a:rPr>
              <a:t> </a:t>
            </a:r>
            <a:r>
              <a:rPr lang="en-GB" sz="2000" dirty="0" err="1">
                <a:ea typeface="+mn-lt"/>
                <a:cs typeface="+mn-lt"/>
              </a:rPr>
              <a:t>digitalnog</a:t>
            </a:r>
            <a:r>
              <a:rPr lang="en-GB" sz="2000" dirty="0">
                <a:ea typeface="+mn-lt"/>
                <a:cs typeface="+mn-lt"/>
              </a:rPr>
              <a:t> </a:t>
            </a:r>
            <a:r>
              <a:rPr lang="en-GB" sz="2000" dirty="0" err="1">
                <a:ea typeface="+mn-lt"/>
                <a:cs typeface="+mn-lt"/>
              </a:rPr>
              <a:t>identiteta</a:t>
            </a:r>
            <a:r>
              <a:rPr lang="en-GB" sz="2000" dirty="0">
                <a:ea typeface="+mn-lt"/>
                <a:cs typeface="+mn-lt"/>
              </a:rPr>
              <a:t> </a:t>
            </a:r>
            <a:r>
              <a:rPr lang="en-GB" sz="2000" dirty="0" err="1">
                <a:ea typeface="+mn-lt"/>
                <a:cs typeface="+mn-lt"/>
              </a:rPr>
              <a:t>korisnika</a:t>
            </a:r>
            <a:r>
              <a:rPr lang="en-GB" sz="2000" dirty="0">
                <a:ea typeface="+mn-lt"/>
                <a:cs typeface="+mn-lt"/>
              </a:rPr>
              <a:t>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855677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7F3023-A701-BD4C-4C6D-CFF735D7F3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706167"/>
            <a:ext cx="3443970" cy="2373948"/>
          </a:xfrm>
        </p:spPr>
        <p:txBody>
          <a:bodyPr anchor="b">
            <a:normAutofit/>
          </a:bodyPr>
          <a:lstStyle/>
          <a:p>
            <a:pPr algn="r"/>
            <a:r>
              <a:rPr lang="en-US" sz="4000" err="1">
                <a:solidFill>
                  <a:srgbClr val="FFFFFF"/>
                </a:solidFill>
              </a:rPr>
              <a:t>Intenzitet</a:t>
            </a:r>
            <a:r>
              <a:rPr lang="en-US" sz="4000">
                <a:solidFill>
                  <a:srgbClr val="FFFFFF"/>
                </a:solidFill>
              </a:rPr>
              <a:t> Web </a:t>
            </a:r>
            <a:r>
              <a:rPr lang="en-US" sz="4000" err="1">
                <a:solidFill>
                  <a:srgbClr val="FFFFFF"/>
                </a:solidFill>
              </a:rPr>
              <a:t>Praćenja</a:t>
            </a:r>
          </a:p>
          <a:p>
            <a:pPr algn="r"/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8" name="Content Placeholder 5">
            <a:extLst>
              <a:ext uri="{FF2B5EF4-FFF2-40B4-BE49-F238E27FC236}">
                <a16:creationId xmlns:a16="http://schemas.microsoft.com/office/drawing/2014/main" id="{A4937F9C-2025-A37B-2050-72154C1BFC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8061720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240502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E03B10-8563-16F9-40F9-F04FA0C09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Kako </a:t>
            </a:r>
            <a:r>
              <a:rPr lang="en-US" sz="4000" err="1">
                <a:solidFill>
                  <a:srgbClr val="FFFFFF"/>
                </a:solidFill>
              </a:rPr>
              <a:t>smo</a:t>
            </a:r>
            <a:r>
              <a:rPr lang="en-US" sz="4000">
                <a:solidFill>
                  <a:srgbClr val="FFFFFF"/>
                </a:solidFill>
              </a:rPr>
              <a:t> to </a:t>
            </a:r>
            <a:r>
              <a:rPr lang="en-US" sz="4000" err="1">
                <a:solidFill>
                  <a:srgbClr val="FFFFFF"/>
                </a:solidFill>
              </a:rPr>
              <a:t>implementirali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E43873-97D3-6483-8769-54E42E409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000"/>
              <a:t>4 Koraka </a:t>
            </a:r>
            <a:r>
              <a:rPr lang="en-US" sz="2000" err="1"/>
              <a:t>Implementacije</a:t>
            </a:r>
            <a:r>
              <a:rPr lang="en-US" sz="2000"/>
              <a:t>:</a:t>
            </a:r>
          </a:p>
          <a:p>
            <a:r>
              <a:rPr lang="en-US" sz="2000"/>
              <a:t>️ </a:t>
            </a:r>
            <a:r>
              <a:rPr lang="en-US" sz="2000" err="1"/>
              <a:t>Ekstrakacija</a:t>
            </a:r>
            <a:r>
              <a:rPr lang="en-US" sz="2000"/>
              <a:t>: HTML + </a:t>
            </a:r>
            <a:r>
              <a:rPr lang="en-US" sz="2000" err="1"/>
              <a:t>cookiesi</a:t>
            </a:r>
            <a:r>
              <a:rPr lang="en-US" sz="2000"/>
              <a:t> → SQLite </a:t>
            </a:r>
            <a:r>
              <a:rPr lang="en-US" sz="2000" err="1"/>
              <a:t>baza</a:t>
            </a:r>
          </a:p>
          <a:p>
            <a:r>
              <a:rPr lang="en-US" sz="2000"/>
              <a:t> </a:t>
            </a:r>
            <a:r>
              <a:rPr lang="en-US" sz="2000" err="1"/>
              <a:t>Kategorizacija</a:t>
            </a:r>
            <a:r>
              <a:rPr lang="en-US" sz="2000"/>
              <a:t>: </a:t>
            </a:r>
            <a:r>
              <a:rPr lang="en-US" sz="2000" err="1"/>
              <a:t>Trackeri</a:t>
            </a:r>
            <a:r>
              <a:rPr lang="en-US" sz="2000"/>
              <a:t> po </a:t>
            </a:r>
            <a:r>
              <a:rPr lang="en-US" sz="2000" err="1"/>
              <a:t>tipovima</a:t>
            </a:r>
            <a:r>
              <a:rPr lang="en-US" sz="2000"/>
              <a:t> (social, analytics, ads, FP)</a:t>
            </a:r>
          </a:p>
          <a:p>
            <a:r>
              <a:rPr lang="en-US" sz="2000"/>
              <a:t> </a:t>
            </a:r>
            <a:r>
              <a:rPr lang="en-US" sz="2000" err="1"/>
              <a:t>Bodovanje</a:t>
            </a:r>
            <a:r>
              <a:rPr lang="en-US" sz="2000"/>
              <a:t>: </a:t>
            </a:r>
            <a:r>
              <a:rPr lang="en-US" sz="2000" err="1"/>
              <a:t>Primjena</a:t>
            </a:r>
            <a:r>
              <a:rPr lang="en-US" sz="2000"/>
              <a:t> </a:t>
            </a:r>
            <a:r>
              <a:rPr lang="en-US" sz="2000" err="1"/>
              <a:t>formule</a:t>
            </a:r>
            <a:r>
              <a:rPr lang="en-US" sz="2000"/>
              <a:t> za </a:t>
            </a:r>
            <a:r>
              <a:rPr lang="en-US" sz="2000" err="1"/>
              <a:t>svaku</a:t>
            </a:r>
            <a:r>
              <a:rPr lang="en-US" sz="2000"/>
              <a:t> </a:t>
            </a:r>
            <a:r>
              <a:rPr lang="en-US" sz="2000" err="1"/>
              <a:t>stranicu</a:t>
            </a:r>
          </a:p>
          <a:p>
            <a:r>
              <a:rPr lang="en-US" sz="2000"/>
              <a:t> </a:t>
            </a:r>
            <a:r>
              <a:rPr lang="en-US" sz="2000" err="1"/>
              <a:t>Vizualizacija</a:t>
            </a:r>
            <a:r>
              <a:rPr lang="en-US" sz="2000"/>
              <a:t>: </a:t>
            </a:r>
            <a:r>
              <a:rPr lang="en-US" sz="2000" err="1"/>
              <a:t>Plotly</a:t>
            </a:r>
            <a:r>
              <a:rPr lang="en-US" sz="2000"/>
              <a:t> </a:t>
            </a:r>
            <a:r>
              <a:rPr lang="en-US" sz="2000" err="1"/>
              <a:t>graf</a:t>
            </a:r>
            <a:r>
              <a:rPr lang="en-US" sz="2000"/>
              <a:t> za </a:t>
            </a:r>
            <a:r>
              <a:rPr lang="en-US" sz="2000" err="1"/>
              <a:t>prikaz</a:t>
            </a:r>
            <a:r>
              <a:rPr lang="en-US" sz="2000"/>
              <a:t> rezultata</a:t>
            </a:r>
          </a:p>
        </p:txBody>
      </p:sp>
    </p:spTree>
    <p:extLst>
      <p:ext uri="{BB962C8B-B14F-4D97-AF65-F5344CB8AC3E}">
        <p14:creationId xmlns:p14="http://schemas.microsoft.com/office/powerpoint/2010/main" val="6329308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3AFE8227-C443-417B-BA91-520EB1EF4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ontent Placeholder 9">
            <a:extLst>
              <a:ext uri="{FF2B5EF4-FFF2-40B4-BE49-F238E27FC236}">
                <a16:creationId xmlns:a16="http://schemas.microsoft.com/office/drawing/2014/main" id="{2302AC25-31DB-C9A8-AE0C-FC1D497A6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461" y="593512"/>
            <a:ext cx="5200428" cy="522845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3200">
                <a:solidFill>
                  <a:srgbClr val="000000"/>
                </a:solidFill>
              </a:rPr>
              <a:t>Calculate_intensity.py</a:t>
            </a:r>
          </a:p>
          <a:p>
            <a:r>
              <a:rPr lang="en-US" sz="2000" err="1">
                <a:solidFill>
                  <a:srgbClr val="000000"/>
                </a:solidFill>
                <a:ea typeface="+mn-lt"/>
                <a:cs typeface="+mn-lt"/>
              </a:rPr>
              <a:t>Svrha</a:t>
            </a:r>
            <a:r>
              <a:rPr lang="en-US" sz="2000">
                <a:solidFill>
                  <a:srgbClr val="000000"/>
                </a:solidFill>
                <a:ea typeface="+mn-lt"/>
                <a:cs typeface="+mn-lt"/>
              </a:rPr>
              <a:t>: </a:t>
            </a:r>
            <a:r>
              <a:rPr lang="en-US" sz="2000" err="1">
                <a:solidFill>
                  <a:srgbClr val="000000"/>
                </a:solidFill>
                <a:ea typeface="+mn-lt"/>
                <a:cs typeface="+mn-lt"/>
              </a:rPr>
              <a:t>računa</a:t>
            </a:r>
            <a:r>
              <a:rPr lang="en-US" sz="2000">
                <a:solidFill>
                  <a:srgbClr val="000000"/>
                </a:solidFill>
                <a:ea typeface="+mn-lt"/>
                <a:cs typeface="+mn-lt"/>
              </a:rPr>
              <a:t> “tracking intensity score” po </a:t>
            </a:r>
            <a:r>
              <a:rPr lang="en-US" sz="2000" err="1">
                <a:solidFill>
                  <a:srgbClr val="000000"/>
                </a:solidFill>
                <a:ea typeface="+mn-lt"/>
                <a:cs typeface="+mn-lt"/>
              </a:rPr>
              <a:t>stranici</a:t>
            </a:r>
            <a:r>
              <a:rPr lang="en-US" sz="20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rgbClr val="000000"/>
                </a:solidFill>
                <a:ea typeface="+mn-lt"/>
                <a:cs typeface="+mn-lt"/>
              </a:rPr>
              <a:t>i</a:t>
            </a:r>
            <a:r>
              <a:rPr lang="en-US" sz="20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rgbClr val="000000"/>
                </a:solidFill>
                <a:ea typeface="+mn-lt"/>
                <a:cs typeface="+mn-lt"/>
              </a:rPr>
              <a:t>sprema</a:t>
            </a:r>
            <a:r>
              <a:rPr lang="en-US" sz="20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rgbClr val="000000"/>
                </a:solidFill>
                <a:ea typeface="+mn-lt"/>
                <a:cs typeface="+mn-lt"/>
              </a:rPr>
              <a:t>rezultate</a:t>
            </a:r>
            <a:r>
              <a:rPr lang="en-US" sz="2000">
                <a:solidFill>
                  <a:srgbClr val="000000"/>
                </a:solidFill>
                <a:ea typeface="+mn-lt"/>
                <a:cs typeface="+mn-lt"/>
              </a:rPr>
              <a:t> u </a:t>
            </a:r>
            <a:r>
              <a:rPr lang="en-US" sz="2000" err="1">
                <a:solidFill>
                  <a:srgbClr val="000000"/>
                </a:solidFill>
                <a:ea typeface="+mn-lt"/>
                <a:cs typeface="+mn-lt"/>
              </a:rPr>
              <a:t>bazu</a:t>
            </a:r>
            <a:r>
              <a:rPr lang="en-US" sz="2000">
                <a:solidFill>
                  <a:srgbClr val="000000"/>
                </a:solidFill>
                <a:ea typeface="+mn-lt"/>
                <a:cs typeface="+mn-lt"/>
              </a:rPr>
              <a:t> + </a:t>
            </a:r>
            <a:r>
              <a:rPr lang="en-US" sz="2000" err="1">
                <a:solidFill>
                  <a:srgbClr val="000000"/>
                </a:solidFill>
                <a:ea typeface="+mn-lt"/>
                <a:cs typeface="+mn-lt"/>
              </a:rPr>
              <a:t>exporta</a:t>
            </a:r>
            <a:r>
              <a:rPr lang="en-US" sz="2000">
                <a:solidFill>
                  <a:srgbClr val="000000"/>
                </a:solidFill>
                <a:ea typeface="+mn-lt"/>
                <a:cs typeface="+mn-lt"/>
              </a:rPr>
              <a:t> JSON za </a:t>
            </a:r>
            <a:r>
              <a:rPr lang="en-US" sz="2000" err="1">
                <a:solidFill>
                  <a:srgbClr val="000000"/>
                </a:solidFill>
                <a:ea typeface="+mn-lt"/>
                <a:cs typeface="+mn-lt"/>
              </a:rPr>
              <a:t>vizualizaciju</a:t>
            </a:r>
            <a:r>
              <a:rPr lang="en-US" sz="2000">
                <a:solidFill>
                  <a:srgbClr val="000000"/>
                </a:solidFill>
                <a:ea typeface="+mn-lt"/>
                <a:cs typeface="+mn-lt"/>
              </a:rPr>
              <a:t>.  </a:t>
            </a:r>
          </a:p>
          <a:p>
            <a:r>
              <a:rPr lang="en-US" sz="2000">
                <a:solidFill>
                  <a:srgbClr val="000000"/>
                </a:solidFill>
                <a:ea typeface="+mn-lt"/>
                <a:cs typeface="+mn-lt"/>
              </a:rPr>
              <a:t>Za </a:t>
            </a:r>
            <a:r>
              <a:rPr lang="en-US" sz="2000" err="1">
                <a:solidFill>
                  <a:srgbClr val="000000"/>
                </a:solidFill>
                <a:ea typeface="+mn-lt"/>
                <a:cs typeface="+mn-lt"/>
              </a:rPr>
              <a:t>svaku</a:t>
            </a:r>
            <a:r>
              <a:rPr lang="en-US" sz="20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rgbClr val="000000"/>
                </a:solidFill>
                <a:ea typeface="+mn-lt"/>
                <a:cs typeface="+mn-lt"/>
              </a:rPr>
              <a:t>stranicu</a:t>
            </a:r>
            <a:r>
              <a:rPr lang="en-US" sz="2000">
                <a:solidFill>
                  <a:srgbClr val="000000"/>
                </a:solidFill>
                <a:ea typeface="+mn-lt"/>
                <a:cs typeface="+mn-lt"/>
              </a:rPr>
              <a:t> (</a:t>
            </a:r>
            <a:r>
              <a:rPr lang="en-US" sz="2000" err="1">
                <a:solidFill>
                  <a:srgbClr val="000000"/>
                </a:solidFill>
                <a:latin typeface="Aptos"/>
              </a:rPr>
              <a:t>page_id</a:t>
            </a:r>
            <a:r>
              <a:rPr lang="en-US" sz="2000">
                <a:solidFill>
                  <a:srgbClr val="000000"/>
                </a:solidFill>
                <a:ea typeface="+mn-lt"/>
                <a:cs typeface="+mn-lt"/>
              </a:rPr>
              <a:t>) </a:t>
            </a:r>
            <a:r>
              <a:rPr lang="en-US" sz="2000" err="1">
                <a:solidFill>
                  <a:srgbClr val="000000"/>
                </a:solidFill>
                <a:ea typeface="+mn-lt"/>
                <a:cs typeface="+mn-lt"/>
              </a:rPr>
              <a:t>računa</a:t>
            </a:r>
            <a:r>
              <a:rPr lang="en-US" sz="20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rgbClr val="000000"/>
                </a:solidFill>
                <a:ea typeface="+mn-lt"/>
                <a:cs typeface="+mn-lt"/>
              </a:rPr>
              <a:t>broj</a:t>
            </a:r>
            <a:r>
              <a:rPr lang="en-US" sz="20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rgbClr val="000000"/>
                </a:solidFill>
                <a:ea typeface="+mn-lt"/>
                <a:cs typeface="+mn-lt"/>
              </a:rPr>
              <a:t>jedinstvenih</a:t>
            </a:r>
            <a:r>
              <a:rPr lang="en-US" sz="20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rgbClr val="000000"/>
                </a:solidFill>
                <a:ea typeface="+mn-lt"/>
                <a:cs typeface="+mn-lt"/>
              </a:rPr>
              <a:t>trackera</a:t>
            </a:r>
            <a:r>
              <a:rPr lang="en-US" sz="2000">
                <a:solidFill>
                  <a:srgbClr val="000000"/>
                </a:solidFill>
                <a:ea typeface="+mn-lt"/>
                <a:cs typeface="+mn-lt"/>
              </a:rPr>
              <a:t>, third-party </a:t>
            </a:r>
            <a:r>
              <a:rPr lang="en-US" sz="2000" err="1">
                <a:solidFill>
                  <a:srgbClr val="000000"/>
                </a:solidFill>
                <a:ea typeface="+mn-lt"/>
                <a:cs typeface="+mn-lt"/>
              </a:rPr>
              <a:t>cookiesa</a:t>
            </a:r>
            <a:r>
              <a:rPr lang="en-US" sz="20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rgbClr val="000000"/>
                </a:solidFill>
                <a:ea typeface="+mn-lt"/>
                <a:cs typeface="+mn-lt"/>
              </a:rPr>
              <a:t>i</a:t>
            </a:r>
            <a:r>
              <a:rPr lang="en-US" sz="2000">
                <a:solidFill>
                  <a:srgbClr val="000000"/>
                </a:solidFill>
                <a:ea typeface="+mn-lt"/>
                <a:cs typeface="+mn-lt"/>
              </a:rPr>
              <a:t> fingerprinting </a:t>
            </a:r>
            <a:r>
              <a:rPr lang="en-US" sz="2000" err="1">
                <a:solidFill>
                  <a:srgbClr val="000000"/>
                </a:solidFill>
                <a:ea typeface="+mn-lt"/>
                <a:cs typeface="+mn-lt"/>
              </a:rPr>
              <a:t>događaja</a:t>
            </a:r>
            <a:r>
              <a:rPr lang="en-US" sz="20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rgbClr val="000000"/>
                </a:solidFill>
                <a:ea typeface="+mn-lt"/>
                <a:cs typeface="+mn-lt"/>
              </a:rPr>
              <a:t>te</a:t>
            </a:r>
            <a:r>
              <a:rPr lang="en-US" sz="20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rgbClr val="000000"/>
                </a:solidFill>
                <a:ea typeface="+mn-lt"/>
                <a:cs typeface="+mn-lt"/>
              </a:rPr>
              <a:t>primjenjuje</a:t>
            </a:r>
            <a:r>
              <a:rPr lang="en-US" sz="20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rgbClr val="000000"/>
                </a:solidFill>
                <a:ea typeface="+mn-lt"/>
                <a:cs typeface="+mn-lt"/>
              </a:rPr>
              <a:t>formulu</a:t>
            </a:r>
            <a:r>
              <a:rPr lang="en-US" sz="2000">
                <a:solidFill>
                  <a:srgbClr val="000000"/>
                </a:solidFill>
                <a:ea typeface="+mn-lt"/>
                <a:cs typeface="+mn-lt"/>
              </a:rPr>
              <a:t> </a:t>
            </a:r>
          </a:p>
          <a:p>
            <a:r>
              <a:rPr lang="en-US" sz="2000">
                <a:solidFill>
                  <a:srgbClr val="000000"/>
                </a:solidFill>
                <a:ea typeface="+mn-lt"/>
                <a:cs typeface="+mn-lt"/>
              </a:rPr>
              <a:t>Na </a:t>
            </a:r>
            <a:r>
              <a:rPr lang="en-US" sz="2000" err="1">
                <a:solidFill>
                  <a:srgbClr val="000000"/>
                </a:solidFill>
                <a:ea typeface="+mn-lt"/>
                <a:cs typeface="+mn-lt"/>
              </a:rPr>
              <a:t>kraju</a:t>
            </a:r>
            <a:r>
              <a:rPr lang="en-US" sz="20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rgbClr val="000000"/>
                </a:solidFill>
                <a:ea typeface="+mn-lt"/>
                <a:cs typeface="+mn-lt"/>
              </a:rPr>
              <a:t>ažurira</a:t>
            </a:r>
            <a:r>
              <a:rPr lang="en-US" sz="20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rgbClr val="000000"/>
                </a:solidFill>
                <a:ea typeface="+mn-lt"/>
                <a:cs typeface="+mn-lt"/>
              </a:rPr>
              <a:t>bazu</a:t>
            </a:r>
            <a:r>
              <a:rPr lang="en-US" sz="2000">
                <a:solidFill>
                  <a:srgbClr val="000000"/>
                </a:solidFill>
                <a:ea typeface="+mn-lt"/>
                <a:cs typeface="+mn-lt"/>
              </a:rPr>
              <a:t>, </a:t>
            </a:r>
            <a:r>
              <a:rPr lang="en-US" sz="2000" err="1">
                <a:solidFill>
                  <a:srgbClr val="000000"/>
                </a:solidFill>
                <a:ea typeface="+mn-lt"/>
                <a:cs typeface="+mn-lt"/>
              </a:rPr>
              <a:t>ispisuje</a:t>
            </a:r>
            <a:r>
              <a:rPr lang="en-US" sz="20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rgbClr val="000000"/>
                </a:solidFill>
                <a:ea typeface="+mn-lt"/>
                <a:cs typeface="+mn-lt"/>
              </a:rPr>
              <a:t>rezultate</a:t>
            </a:r>
            <a:r>
              <a:rPr lang="en-US" sz="20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rgbClr val="000000"/>
                </a:solidFill>
                <a:ea typeface="+mn-lt"/>
                <a:cs typeface="+mn-lt"/>
              </a:rPr>
              <a:t>i</a:t>
            </a:r>
            <a:r>
              <a:rPr lang="en-US" sz="20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rgbClr val="000000"/>
                </a:solidFill>
                <a:ea typeface="+mn-lt"/>
                <a:cs typeface="+mn-lt"/>
              </a:rPr>
              <a:t>exporta</a:t>
            </a:r>
            <a:r>
              <a:rPr lang="en-US" sz="20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rgbClr val="000000"/>
                </a:solidFill>
                <a:ea typeface="+mn-lt"/>
                <a:cs typeface="+mn-lt"/>
              </a:rPr>
              <a:t>sortiranu</a:t>
            </a:r>
            <a:r>
              <a:rPr lang="en-US" sz="20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rgbClr val="000000"/>
                </a:solidFill>
                <a:ea typeface="+mn-lt"/>
                <a:cs typeface="+mn-lt"/>
              </a:rPr>
              <a:t>listu</a:t>
            </a:r>
            <a:r>
              <a:rPr lang="en-US" sz="2000">
                <a:solidFill>
                  <a:srgbClr val="000000"/>
                </a:solidFill>
                <a:ea typeface="+mn-lt"/>
                <a:cs typeface="+mn-lt"/>
              </a:rPr>
              <a:t> </a:t>
            </a:r>
            <a:r>
              <a:rPr lang="en-US" sz="2000" err="1">
                <a:solidFill>
                  <a:srgbClr val="000000"/>
                </a:solidFill>
                <a:latin typeface="Aptos"/>
              </a:rPr>
              <a:t>intensity_scores.json</a:t>
            </a:r>
            <a:r>
              <a:rPr lang="en-US" sz="2000">
                <a:solidFill>
                  <a:srgbClr val="000000"/>
                </a:solidFill>
                <a:ea typeface="+mn-lt"/>
                <a:cs typeface="+mn-lt"/>
              </a:rPr>
              <a:t> za </a:t>
            </a:r>
            <a:r>
              <a:rPr lang="en-US" sz="2000" err="1">
                <a:solidFill>
                  <a:srgbClr val="000000"/>
                </a:solidFill>
                <a:ea typeface="+mn-lt"/>
                <a:cs typeface="+mn-lt"/>
              </a:rPr>
              <a:t>Plotly</a:t>
            </a:r>
            <a:r>
              <a:rPr lang="en-US" sz="20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rgbClr val="000000"/>
                </a:solidFill>
                <a:ea typeface="+mn-lt"/>
                <a:cs typeface="+mn-lt"/>
              </a:rPr>
              <a:t>vizualizaciju</a:t>
            </a:r>
            <a:r>
              <a:rPr lang="en-US" sz="2000">
                <a:solidFill>
                  <a:srgbClr val="000000"/>
                </a:solidFill>
                <a:ea typeface="+mn-lt"/>
                <a:cs typeface="+mn-lt"/>
              </a:rPr>
              <a:t>. </a:t>
            </a:r>
            <a:endParaRPr lang="en-US" sz="2000">
              <a:solidFill>
                <a:srgbClr val="000000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07741FC-B544-4A6E-B831-6789D04233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6408741"/>
            <a:ext cx="12191998" cy="45720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F0BE7ED-7814-4273-B18A-F26CC0380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6408742"/>
            <a:ext cx="8115300" cy="449258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F853F763-BC62-7039-DC46-1B25C6CCD4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7488" y="-2773"/>
            <a:ext cx="6456140" cy="6419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7147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3AFE8227-C443-417B-BA91-520EB1EF4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 descr="A computer screen shot of a program code&#10;&#10;AI-generated content may be incorrect.">
            <a:extLst>
              <a:ext uri="{FF2B5EF4-FFF2-40B4-BE49-F238E27FC236}">
                <a16:creationId xmlns:a16="http://schemas.microsoft.com/office/drawing/2014/main" id="{ACF22A86-8EBA-40ED-D4AD-75E5A50CDE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554" b="-1"/>
          <a:stretch>
            <a:fillRect/>
          </a:stretch>
        </p:blipFill>
        <p:spPr>
          <a:xfrm>
            <a:off x="20" y="431"/>
            <a:ext cx="8115280" cy="6408311"/>
          </a:xfrm>
          <a:prstGeom prst="rect">
            <a:avLst/>
          </a:pr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7252E24-F747-C887-4CEC-70AC3DF975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92849" y="386408"/>
            <a:ext cx="3897501" cy="58087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intensity_chart.py</a:t>
            </a:r>
            <a:endParaRPr lang="en-US" sz="2000"/>
          </a:p>
          <a:p>
            <a:r>
              <a:rPr lang="en-US" sz="2000" err="1">
                <a:ea typeface="+mn-lt"/>
                <a:cs typeface="+mn-lt"/>
              </a:rPr>
              <a:t>Skripta</a:t>
            </a:r>
            <a:r>
              <a:rPr lang="en-US" sz="2000">
                <a:ea typeface="+mn-lt"/>
                <a:cs typeface="+mn-lt"/>
              </a:rPr>
              <a:t> intensity_chart.py </a:t>
            </a:r>
            <a:r>
              <a:rPr lang="en-US" sz="2000" err="1">
                <a:ea typeface="+mn-lt"/>
                <a:cs typeface="+mn-lt"/>
              </a:rPr>
              <a:t>učitava</a:t>
            </a:r>
            <a:r>
              <a:rPr lang="en-US" sz="2000">
                <a:ea typeface="+mn-lt"/>
                <a:cs typeface="+mn-lt"/>
              </a:rPr>
              <a:t> </a:t>
            </a:r>
            <a:r>
              <a:rPr lang="en-US" sz="2000" err="1">
                <a:ea typeface="+mn-lt"/>
                <a:cs typeface="+mn-lt"/>
              </a:rPr>
              <a:t>intensity_scores.json</a:t>
            </a:r>
            <a:r>
              <a:rPr lang="en-US" sz="2000">
                <a:ea typeface="+mn-lt"/>
                <a:cs typeface="+mn-lt"/>
              </a:rPr>
              <a:t> </a:t>
            </a:r>
            <a:r>
              <a:rPr lang="en-US" sz="2000" err="1">
                <a:ea typeface="+mn-lt"/>
                <a:cs typeface="+mn-lt"/>
              </a:rPr>
              <a:t>i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pretvara</a:t>
            </a:r>
            <a:r>
              <a:rPr lang="en-US" sz="2000">
                <a:ea typeface="+mn-lt"/>
                <a:cs typeface="+mn-lt"/>
              </a:rPr>
              <a:t> ga u pandas </a:t>
            </a:r>
            <a:r>
              <a:rPr lang="en-US" sz="2000" err="1">
                <a:ea typeface="+mn-lt"/>
                <a:cs typeface="+mn-lt"/>
              </a:rPr>
              <a:t>DataFrame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te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sortira</a:t>
            </a:r>
            <a:r>
              <a:rPr lang="en-US" sz="2000">
                <a:ea typeface="+mn-lt"/>
                <a:cs typeface="+mn-lt"/>
              </a:rPr>
              <a:t> po score-u </a:t>
            </a:r>
            <a:r>
              <a:rPr lang="en-US" sz="2000" err="1">
                <a:ea typeface="+mn-lt"/>
                <a:cs typeface="+mn-lt"/>
              </a:rPr>
              <a:t>opadajuće</a:t>
            </a:r>
            <a:r>
              <a:rPr lang="en-US" sz="2000">
                <a:ea typeface="+mn-lt"/>
                <a:cs typeface="+mn-lt"/>
              </a:rPr>
              <a:t>. </a:t>
            </a:r>
          </a:p>
          <a:p>
            <a:r>
              <a:rPr lang="en-US" sz="2000" err="1">
                <a:ea typeface="+mn-lt"/>
                <a:cs typeface="+mn-lt"/>
              </a:rPr>
              <a:t>Koristi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Plotly</a:t>
            </a:r>
            <a:r>
              <a:rPr lang="en-US" sz="2000">
                <a:ea typeface="+mn-lt"/>
                <a:cs typeface="+mn-lt"/>
              </a:rPr>
              <a:t> Express za </a:t>
            </a:r>
            <a:r>
              <a:rPr lang="en-US" sz="2000" err="1">
                <a:ea typeface="+mn-lt"/>
                <a:cs typeface="+mn-lt"/>
              </a:rPr>
              <a:t>kreiranje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interaktivnog</a:t>
            </a:r>
            <a:r>
              <a:rPr lang="en-US" sz="2000">
                <a:ea typeface="+mn-lt"/>
                <a:cs typeface="+mn-lt"/>
              </a:rPr>
              <a:t> bar </a:t>
            </a:r>
            <a:r>
              <a:rPr lang="en-US" sz="2000" err="1">
                <a:ea typeface="+mn-lt"/>
                <a:cs typeface="+mn-lt"/>
              </a:rPr>
              <a:t>charta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gdje</a:t>
            </a:r>
            <a:r>
              <a:rPr lang="en-US" sz="2000">
                <a:ea typeface="+mn-lt"/>
                <a:cs typeface="+mn-lt"/>
              </a:rPr>
              <a:t> X-</a:t>
            </a:r>
            <a:r>
              <a:rPr lang="en-US" sz="2000" err="1">
                <a:ea typeface="+mn-lt"/>
                <a:cs typeface="+mn-lt"/>
              </a:rPr>
              <a:t>osa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prikazuje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domene</a:t>
            </a:r>
            <a:r>
              <a:rPr lang="en-US" sz="2000">
                <a:ea typeface="+mn-lt"/>
                <a:cs typeface="+mn-lt"/>
              </a:rPr>
              <a:t>, Y-</a:t>
            </a:r>
            <a:r>
              <a:rPr lang="en-US" sz="2000" err="1">
                <a:ea typeface="+mn-lt"/>
                <a:cs typeface="+mn-lt"/>
              </a:rPr>
              <a:t>osa</a:t>
            </a:r>
            <a:r>
              <a:rPr lang="en-US" sz="2000">
                <a:ea typeface="+mn-lt"/>
                <a:cs typeface="+mn-lt"/>
              </a:rPr>
              <a:t> score, a </a:t>
            </a:r>
            <a:r>
              <a:rPr lang="en-US" sz="2000" err="1">
                <a:ea typeface="+mn-lt"/>
                <a:cs typeface="+mn-lt"/>
              </a:rPr>
              <a:t>boje</a:t>
            </a:r>
            <a:r>
              <a:rPr lang="en-US" sz="2000">
                <a:ea typeface="+mn-lt"/>
                <a:cs typeface="+mn-lt"/>
              </a:rPr>
              <a:t> FP </a:t>
            </a:r>
            <a:r>
              <a:rPr lang="en-US" sz="2000" err="1">
                <a:ea typeface="+mn-lt"/>
                <a:cs typeface="+mn-lt"/>
              </a:rPr>
              <a:t>broj</a:t>
            </a:r>
            <a:r>
              <a:rPr lang="en-US" sz="2000">
                <a:ea typeface="+mn-lt"/>
                <a:cs typeface="+mn-lt"/>
              </a:rPr>
              <a:t> (</a:t>
            </a:r>
            <a:r>
              <a:rPr lang="en-US" sz="2000" err="1">
                <a:ea typeface="+mn-lt"/>
                <a:cs typeface="+mn-lt"/>
              </a:rPr>
              <a:t>Viridis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skala</a:t>
            </a:r>
            <a:r>
              <a:rPr lang="en-US" sz="2000">
                <a:ea typeface="+mn-lt"/>
                <a:cs typeface="+mn-lt"/>
              </a:rPr>
              <a:t>). </a:t>
            </a:r>
          </a:p>
          <a:p>
            <a:r>
              <a:rPr lang="en-US" sz="2000" err="1">
                <a:ea typeface="+mn-lt"/>
                <a:cs typeface="+mn-lt"/>
              </a:rPr>
              <a:t>Sprema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rezultat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kao</a:t>
            </a:r>
            <a:r>
              <a:rPr lang="en-US" sz="2000">
                <a:ea typeface="+mn-lt"/>
                <a:cs typeface="+mn-lt"/>
              </a:rPr>
              <a:t> intensity_chart.html HTML </a:t>
            </a:r>
            <a:r>
              <a:rPr lang="en-US" sz="2000" err="1">
                <a:ea typeface="+mn-lt"/>
                <a:cs typeface="+mn-lt"/>
              </a:rPr>
              <a:t>datoteku</a:t>
            </a:r>
            <a:r>
              <a:rPr lang="en-US" sz="2000">
                <a:ea typeface="+mn-lt"/>
                <a:cs typeface="+mn-lt"/>
              </a:rPr>
              <a:t> za </a:t>
            </a:r>
            <a:r>
              <a:rPr lang="en-US" sz="2000" err="1">
                <a:ea typeface="+mn-lt"/>
                <a:cs typeface="+mn-lt"/>
              </a:rPr>
              <a:t>pregledavanje</a:t>
            </a:r>
            <a:r>
              <a:rPr lang="en-US" sz="2000">
                <a:ea typeface="+mn-lt"/>
                <a:cs typeface="+mn-lt"/>
              </a:rPr>
              <a:t> u </a:t>
            </a:r>
            <a:r>
              <a:rPr lang="en-US" sz="2000" err="1">
                <a:ea typeface="+mn-lt"/>
                <a:cs typeface="+mn-lt"/>
              </a:rPr>
              <a:t>pregledniku</a:t>
            </a:r>
            <a:r>
              <a:rPr lang="en-US" sz="2000">
                <a:ea typeface="+mn-lt"/>
                <a:cs typeface="+mn-lt"/>
              </a:rPr>
              <a:t>. </a:t>
            </a:r>
            <a:endParaRPr lang="en-US"/>
          </a:p>
          <a:p>
            <a:endParaRPr lang="en-US" sz="20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07741FC-B544-4A6E-B831-6789D04233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6408741"/>
            <a:ext cx="12191998" cy="45720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F0BE7ED-7814-4273-B18A-F26CC0380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6408742"/>
            <a:ext cx="8115300" cy="449258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5256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8" name="Rectangle 57">
            <a:extLst>
              <a:ext uri="{FF2B5EF4-FFF2-40B4-BE49-F238E27FC236}">
                <a16:creationId xmlns:a16="http://schemas.microsoft.com/office/drawing/2014/main" id="{CEF6118E-44FB-4509-B4D9-129052E4C6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CAA72D-CF8E-A147-C3BA-D9063757E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78" y="671293"/>
            <a:ext cx="5347595" cy="1312986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err="1">
                <a:latin typeface="Aptos"/>
                <a:cs typeface="Arial"/>
              </a:rPr>
              <a:t>Najbolje</a:t>
            </a:r>
            <a:r>
              <a:rPr lang="en-US">
                <a:latin typeface="Aptos"/>
                <a:cs typeface="Arial"/>
              </a:rPr>
              <a:t> </a:t>
            </a:r>
            <a:r>
              <a:rPr lang="en-US" err="1">
                <a:latin typeface="Aptos"/>
                <a:cs typeface="Arial"/>
              </a:rPr>
              <a:t>stranice</a:t>
            </a:r>
            <a:r>
              <a:rPr lang="en-US">
                <a:latin typeface="Aptos"/>
                <a:cs typeface="Arial"/>
              </a:rPr>
              <a:t> po </a:t>
            </a:r>
            <a:r>
              <a:rPr lang="en-US" err="1">
                <a:latin typeface="Aptos"/>
                <a:cs typeface="Arial"/>
              </a:rPr>
              <a:t>intnenzitetu</a:t>
            </a:r>
            <a:r>
              <a:rPr lang="en-US">
                <a:latin typeface="Aptos"/>
                <a:cs typeface="Arial"/>
              </a:rPr>
              <a:t> </a:t>
            </a:r>
            <a:r>
              <a:rPr lang="en-US" err="1">
                <a:latin typeface="Aptos"/>
                <a:cs typeface="Arial"/>
              </a:rPr>
              <a:t>praćenja</a:t>
            </a:r>
            <a:endParaRPr lang="en-US" err="1">
              <a:latin typeface="Apto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F53DA5-B02A-C82D-3F8F-315EB648BB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155" y="3526300"/>
            <a:ext cx="3986155" cy="258845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endParaRPr lang="en-US" sz="2000">
              <a:latin typeface="Arial"/>
              <a:cs typeface="Arial"/>
            </a:endParaRPr>
          </a:p>
          <a:p>
            <a:endParaRPr lang="en-US" sz="200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008FDBA1-795D-EB5D-6AE1-29EFD0D62636}"/>
              </a:ext>
            </a:extLst>
          </p:cNvPr>
          <p:cNvSpPr>
            <a:spLocks noGrp="1"/>
          </p:cNvSpPr>
          <p:nvPr/>
        </p:nvSpPr>
        <p:spPr>
          <a:xfrm>
            <a:off x="295821" y="2782389"/>
            <a:ext cx="4530898" cy="3639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err="1">
                <a:latin typeface="Aptos"/>
                <a:cs typeface="Arial"/>
              </a:rPr>
              <a:t>Plotly</a:t>
            </a:r>
            <a:r>
              <a:rPr lang="en-US" sz="2000" b="1">
                <a:latin typeface="Aptos"/>
                <a:cs typeface="Arial"/>
              </a:rPr>
              <a:t> Bar Chart</a:t>
            </a:r>
            <a:endParaRPr lang="en-US" sz="2000">
              <a:latin typeface="Aptos"/>
            </a:endParaRPr>
          </a:p>
          <a:p>
            <a:r>
              <a:rPr lang="en-US" sz="2000">
                <a:solidFill>
                  <a:srgbClr val="000000"/>
                </a:solidFill>
                <a:latin typeface="Aptos"/>
                <a:ea typeface="+mn-lt"/>
                <a:cs typeface="Arial"/>
              </a:rPr>
              <a:t>X-</a:t>
            </a:r>
            <a:r>
              <a:rPr lang="en-US" sz="2000" err="1">
                <a:solidFill>
                  <a:srgbClr val="000000"/>
                </a:solidFill>
                <a:latin typeface="Aptos"/>
                <a:ea typeface="+mn-lt"/>
                <a:cs typeface="Arial"/>
              </a:rPr>
              <a:t>os</a:t>
            </a:r>
            <a:r>
              <a:rPr lang="en-US" sz="2000">
                <a:solidFill>
                  <a:srgbClr val="000000"/>
                </a:solidFill>
                <a:latin typeface="Aptos"/>
                <a:cs typeface="Arial"/>
              </a:rPr>
              <a:t>: Web </a:t>
            </a:r>
            <a:r>
              <a:rPr lang="en-US" sz="2000" err="1">
                <a:solidFill>
                  <a:srgbClr val="000000"/>
                </a:solidFill>
                <a:latin typeface="Aptos"/>
                <a:cs typeface="Arial"/>
              </a:rPr>
              <a:t>stranice</a:t>
            </a:r>
            <a:r>
              <a:rPr lang="en-US" sz="2000">
                <a:solidFill>
                  <a:srgbClr val="000000"/>
                </a:solidFill>
                <a:latin typeface="Aptos"/>
                <a:cs typeface="Arial"/>
              </a:rPr>
              <a:t> (vecernji.hr, dan.co.me, vijesti.me, google.com)</a:t>
            </a:r>
            <a:endParaRPr lang="en-US" sz="2000">
              <a:solidFill>
                <a:srgbClr val="000000"/>
              </a:solidFill>
              <a:latin typeface="Aptos"/>
            </a:endParaRPr>
          </a:p>
          <a:p>
            <a:r>
              <a:rPr lang="en-US" sz="2000">
                <a:solidFill>
                  <a:srgbClr val="000000"/>
                </a:solidFill>
                <a:latin typeface="Aptos"/>
                <a:ea typeface="+mn-lt"/>
                <a:cs typeface="Arial"/>
              </a:rPr>
              <a:t>Y-</a:t>
            </a:r>
            <a:r>
              <a:rPr lang="en-US" sz="2000" err="1">
                <a:solidFill>
                  <a:srgbClr val="000000"/>
                </a:solidFill>
                <a:latin typeface="Aptos"/>
                <a:ea typeface="+mn-lt"/>
                <a:cs typeface="Arial"/>
              </a:rPr>
              <a:t>os</a:t>
            </a:r>
            <a:r>
              <a:rPr lang="en-US" sz="2000">
                <a:solidFill>
                  <a:srgbClr val="000000"/>
                </a:solidFill>
                <a:latin typeface="Aptos"/>
                <a:cs typeface="Arial"/>
              </a:rPr>
              <a:t>: </a:t>
            </a:r>
            <a:r>
              <a:rPr lang="en-US" sz="2000" err="1">
                <a:solidFill>
                  <a:srgbClr val="000000"/>
                </a:solidFill>
                <a:latin typeface="Aptos"/>
                <a:cs typeface="Arial"/>
              </a:rPr>
              <a:t>Intenzitet</a:t>
            </a:r>
            <a:r>
              <a:rPr lang="en-US" sz="2000">
                <a:solidFill>
                  <a:srgbClr val="000000"/>
                </a:solidFill>
                <a:latin typeface="Aptos"/>
                <a:cs typeface="Arial"/>
              </a:rPr>
              <a:t> </a:t>
            </a:r>
            <a:r>
              <a:rPr lang="en-US" sz="2000" err="1">
                <a:solidFill>
                  <a:srgbClr val="000000"/>
                </a:solidFill>
                <a:latin typeface="Aptos"/>
                <a:cs typeface="Arial"/>
              </a:rPr>
              <a:t>Praćenja</a:t>
            </a:r>
            <a:r>
              <a:rPr lang="en-US" sz="2000">
                <a:solidFill>
                  <a:srgbClr val="000000"/>
                </a:solidFill>
                <a:latin typeface="Aptos"/>
                <a:cs typeface="Arial"/>
              </a:rPr>
              <a:t> (</a:t>
            </a:r>
            <a:r>
              <a:rPr lang="en-US" sz="2000" err="1">
                <a:solidFill>
                  <a:srgbClr val="000000"/>
                </a:solidFill>
                <a:latin typeface="Aptos"/>
                <a:cs typeface="Arial"/>
              </a:rPr>
              <a:t>skala</a:t>
            </a:r>
            <a:r>
              <a:rPr lang="en-US" sz="2000">
                <a:latin typeface="Aptos"/>
                <a:cs typeface="Arial"/>
              </a:rPr>
              <a:t> </a:t>
            </a:r>
            <a:r>
              <a:rPr lang="en-US" sz="2000">
                <a:solidFill>
                  <a:srgbClr val="000000"/>
                </a:solidFill>
                <a:latin typeface="Aptos"/>
                <a:cs typeface="Arial"/>
              </a:rPr>
              <a:t>0-35)</a:t>
            </a:r>
            <a:endParaRPr lang="en-US" sz="2000">
              <a:latin typeface="Aptos"/>
            </a:endParaRPr>
          </a:p>
          <a:p>
            <a:r>
              <a:rPr lang="en-US" sz="2000">
                <a:solidFill>
                  <a:srgbClr val="000000"/>
                </a:solidFill>
                <a:latin typeface="Aptos"/>
                <a:ea typeface="+mn-lt"/>
                <a:cs typeface="Arial"/>
              </a:rPr>
              <a:t>Boje</a:t>
            </a:r>
            <a:r>
              <a:rPr lang="en-US" sz="2000">
                <a:solidFill>
                  <a:srgbClr val="000000"/>
                </a:solidFill>
                <a:latin typeface="Aptos"/>
                <a:cs typeface="Arial"/>
              </a:rPr>
              <a:t>: Razina</a:t>
            </a:r>
            <a:r>
              <a:rPr lang="en-US" sz="2000">
                <a:latin typeface="Aptos"/>
                <a:cs typeface="Arial"/>
              </a:rPr>
              <a:t> </a:t>
            </a:r>
            <a:r>
              <a:rPr lang="en-US" sz="2000" err="1">
                <a:latin typeface="Aptos"/>
                <a:cs typeface="Arial"/>
              </a:rPr>
              <a:t>Fingerprintinga</a:t>
            </a:r>
            <a:r>
              <a:rPr lang="en-US" sz="2000">
                <a:solidFill>
                  <a:srgbClr val="000000"/>
                </a:solidFill>
                <a:latin typeface="Aptos"/>
                <a:cs typeface="Arial"/>
              </a:rPr>
              <a:t> (</a:t>
            </a:r>
            <a:r>
              <a:rPr lang="en-US" sz="2000" err="1">
                <a:solidFill>
                  <a:srgbClr val="000000"/>
                </a:solidFill>
                <a:latin typeface="Aptos"/>
                <a:cs typeface="Arial"/>
              </a:rPr>
              <a:t>broj</a:t>
            </a:r>
            <a:r>
              <a:rPr lang="en-US" sz="2000">
                <a:latin typeface="Aptos"/>
                <a:cs typeface="Arial"/>
              </a:rPr>
              <a:t> </a:t>
            </a:r>
            <a:r>
              <a:rPr lang="en-US" sz="2000">
                <a:solidFill>
                  <a:srgbClr val="000000"/>
                </a:solidFill>
                <a:latin typeface="Aptos"/>
                <a:cs typeface="Arial"/>
              </a:rPr>
              <a:t>FP)</a:t>
            </a:r>
            <a:endParaRPr lang="en-US" sz="2000">
              <a:latin typeface="Aptos"/>
            </a:endParaRPr>
          </a:p>
          <a:p>
            <a:pPr marL="0" indent="0">
              <a:buNone/>
            </a:pPr>
            <a:endParaRPr lang="en-US" sz="2000">
              <a:latin typeface="Aptos"/>
              <a:cs typeface="Arial"/>
            </a:endParaRPr>
          </a:p>
          <a:p>
            <a:endParaRPr lang="en-US" sz="1900">
              <a:latin typeface="Arial"/>
              <a:cs typeface="Arial"/>
            </a:endParaRPr>
          </a:p>
          <a:p>
            <a:endParaRPr lang="en-US" sz="190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C4D59AAD-AAEC-043B-4A38-E82C2A5DD7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8303" y="3202632"/>
            <a:ext cx="7342910" cy="3239040"/>
          </a:xfrm>
          <a:prstGeom prst="rect">
            <a:avLst/>
          </a:prstGeom>
        </p:spPr>
      </p:pic>
      <p:pic>
        <p:nvPicPr>
          <p:cNvPr id="22" name="Picture 2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E1B6912-E353-BA51-D373-DA6D8FD9C0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690" y="153506"/>
            <a:ext cx="5712499" cy="2848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7803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76008B-5C6E-4EDD-E703-DCBF61B80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endParaRPr lang="en-US" sz="4000" b="1">
              <a:solidFill>
                <a:srgbClr val="FFFFFF"/>
              </a:solidFill>
              <a:latin typeface="Arial"/>
              <a:cs typeface="Arial"/>
            </a:endParaRPr>
          </a:p>
          <a:p>
            <a:pPr algn="r"/>
            <a:r>
              <a:rPr lang="en-US" sz="4000">
                <a:solidFill>
                  <a:srgbClr val="FFFFFF"/>
                </a:solidFill>
              </a:rPr>
              <a:t>Ključna otkrića i preporuke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23C2F1-4E99-3562-4435-4797996B04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1900" b="1" err="1">
                <a:latin typeface="Aptos"/>
                <a:ea typeface="+mn-lt"/>
                <a:cs typeface="Arial"/>
              </a:rPr>
              <a:t>Otkrića</a:t>
            </a:r>
            <a:endParaRPr lang="en-US" sz="1900" b="1" err="1">
              <a:latin typeface="Aptos"/>
            </a:endParaRPr>
          </a:p>
          <a:p>
            <a:pPr marL="0" indent="0">
              <a:buNone/>
            </a:pPr>
            <a:r>
              <a:rPr lang="en-US" sz="1900" err="1">
                <a:latin typeface="Aptos"/>
                <a:cs typeface="Arial"/>
              </a:rPr>
              <a:t>Hrvatske</a:t>
            </a:r>
            <a:r>
              <a:rPr lang="en-US" sz="1900">
                <a:latin typeface="Aptos"/>
                <a:cs typeface="Arial"/>
              </a:rPr>
              <a:t> </a:t>
            </a:r>
            <a:r>
              <a:rPr lang="en-US" sz="1900" err="1">
                <a:latin typeface="Aptos"/>
                <a:cs typeface="Arial"/>
              </a:rPr>
              <a:t>vijesti</a:t>
            </a:r>
            <a:r>
              <a:rPr lang="en-US" sz="1900">
                <a:latin typeface="Aptos"/>
                <a:cs typeface="Arial"/>
              </a:rPr>
              <a:t> </a:t>
            </a:r>
            <a:r>
              <a:rPr lang="en-US" sz="1900" err="1">
                <a:latin typeface="Aptos"/>
                <a:cs typeface="Arial"/>
              </a:rPr>
              <a:t>stranice</a:t>
            </a:r>
            <a:r>
              <a:rPr lang="en-US" sz="1900">
                <a:latin typeface="Aptos"/>
                <a:cs typeface="Arial"/>
              </a:rPr>
              <a:t> (vecernji.hr, dan.co.me) = KRITIČNA </a:t>
            </a:r>
            <a:r>
              <a:rPr lang="en-US" sz="1900" err="1">
                <a:latin typeface="Aptos"/>
                <a:cs typeface="Arial"/>
              </a:rPr>
              <a:t>razina</a:t>
            </a:r>
            <a:r>
              <a:rPr lang="en-US" sz="1900">
                <a:latin typeface="Aptos"/>
                <a:cs typeface="Arial"/>
              </a:rPr>
              <a:t> </a:t>
            </a:r>
            <a:r>
              <a:rPr lang="en-US" sz="1900" err="1">
                <a:latin typeface="Aptos"/>
                <a:cs typeface="Arial"/>
              </a:rPr>
              <a:t>praćenja</a:t>
            </a:r>
            <a:endParaRPr lang="en-US" sz="1900" err="1">
              <a:latin typeface="Aptos"/>
            </a:endParaRPr>
          </a:p>
          <a:p>
            <a:pPr marL="0" indent="0">
              <a:buNone/>
            </a:pPr>
            <a:r>
              <a:rPr lang="en-US" sz="1900" err="1">
                <a:latin typeface="Aptos"/>
                <a:ea typeface="+mn-lt"/>
                <a:cs typeface="Arial"/>
              </a:rPr>
              <a:t>Intenzitet</a:t>
            </a:r>
            <a:r>
              <a:rPr lang="en-US" sz="1900">
                <a:latin typeface="Aptos"/>
                <a:ea typeface="+mn-lt"/>
                <a:cs typeface="Arial"/>
              </a:rPr>
              <a:t> </a:t>
            </a:r>
            <a:r>
              <a:rPr lang="en-US" sz="1900" err="1">
                <a:latin typeface="Aptos"/>
                <a:ea typeface="+mn-lt"/>
                <a:cs typeface="Arial"/>
              </a:rPr>
              <a:t>praćenja</a:t>
            </a:r>
            <a:r>
              <a:rPr lang="en-US" sz="1900">
                <a:latin typeface="Aptos"/>
                <a:ea typeface="+mn-lt"/>
                <a:cs typeface="Arial"/>
              </a:rPr>
              <a:t> </a:t>
            </a:r>
            <a:r>
              <a:rPr lang="en-US" sz="1900">
                <a:latin typeface="Aptos"/>
                <a:cs typeface="Arial"/>
              </a:rPr>
              <a:t>40% </a:t>
            </a:r>
            <a:r>
              <a:rPr lang="en-US" sz="1900" err="1">
                <a:latin typeface="Aptos"/>
                <a:cs typeface="Arial"/>
              </a:rPr>
              <a:t>viši</a:t>
            </a:r>
            <a:r>
              <a:rPr lang="en-US" sz="1900">
                <a:latin typeface="Aptos"/>
                <a:cs typeface="Arial"/>
              </a:rPr>
              <a:t> od </a:t>
            </a:r>
            <a:r>
              <a:rPr lang="en-US" sz="1900" err="1">
                <a:latin typeface="Aptos"/>
                <a:cs typeface="Arial"/>
              </a:rPr>
              <a:t>međunarodnog</a:t>
            </a:r>
            <a:r>
              <a:rPr lang="en-US" sz="1900">
                <a:latin typeface="Aptos"/>
                <a:cs typeface="Arial"/>
              </a:rPr>
              <a:t> </a:t>
            </a:r>
            <a:r>
              <a:rPr lang="en-US" sz="1900" err="1">
                <a:latin typeface="Aptos"/>
                <a:cs typeface="Arial"/>
              </a:rPr>
              <a:t>prosjeka</a:t>
            </a:r>
            <a:endParaRPr lang="en-US" sz="1900" err="1">
              <a:latin typeface="Aptos"/>
            </a:endParaRPr>
          </a:p>
          <a:p>
            <a:pPr marL="0" indent="0">
              <a:buNone/>
            </a:pPr>
            <a:r>
              <a:rPr lang="en-US" sz="1900">
                <a:latin typeface="Aptos"/>
                <a:cs typeface="Arial"/>
              </a:rPr>
              <a:t>Fingerprinting </a:t>
            </a:r>
            <a:r>
              <a:rPr lang="en-US" sz="1900" err="1">
                <a:latin typeface="Aptos"/>
                <a:cs typeface="Arial"/>
              </a:rPr>
              <a:t>predstavlja</a:t>
            </a:r>
            <a:r>
              <a:rPr lang="en-US" sz="1900">
                <a:latin typeface="Aptos"/>
                <a:cs typeface="Arial"/>
              </a:rPr>
              <a:t> 40% </a:t>
            </a:r>
            <a:r>
              <a:rPr lang="en-US" sz="1900" err="1">
                <a:latin typeface="Aptos"/>
                <a:cs typeface="Arial"/>
              </a:rPr>
              <a:t>ukupnog</a:t>
            </a:r>
            <a:r>
              <a:rPr lang="en-US" sz="1900">
                <a:latin typeface="Aptos"/>
                <a:cs typeface="Arial"/>
              </a:rPr>
              <a:t> </a:t>
            </a:r>
            <a:r>
              <a:rPr lang="en-US" sz="1900" err="1">
                <a:latin typeface="Aptos"/>
                <a:cs typeface="Arial"/>
              </a:rPr>
              <a:t>rezultata</a:t>
            </a:r>
            <a:r>
              <a:rPr lang="en-US" sz="1900">
                <a:latin typeface="Aptos"/>
                <a:cs typeface="Arial"/>
              </a:rPr>
              <a:t> (</a:t>
            </a:r>
            <a:r>
              <a:rPr lang="en-US" sz="1900" err="1">
                <a:latin typeface="Aptos"/>
                <a:cs typeface="Arial"/>
              </a:rPr>
              <a:t>zlouporaba</a:t>
            </a:r>
            <a:r>
              <a:rPr lang="en-US" sz="1900">
                <a:latin typeface="Aptos"/>
                <a:cs typeface="Arial"/>
              </a:rPr>
              <a:t> Canvas API-ja)</a:t>
            </a:r>
            <a:endParaRPr lang="en-US" sz="1900">
              <a:latin typeface="Aptos"/>
            </a:endParaRPr>
          </a:p>
          <a:p>
            <a:pPr marL="0" indent="0">
              <a:buNone/>
            </a:pPr>
            <a:r>
              <a:rPr lang="en-US" sz="1900" b="1" err="1">
                <a:latin typeface="Aptos"/>
                <a:cs typeface="Arial"/>
              </a:rPr>
              <a:t>Preporuke</a:t>
            </a:r>
            <a:endParaRPr lang="en-US" sz="1900" b="1" err="1">
              <a:latin typeface="Aptos"/>
            </a:endParaRPr>
          </a:p>
          <a:p>
            <a:pPr marL="0" indent="0">
              <a:buNone/>
            </a:pPr>
            <a:r>
              <a:rPr lang="en-US" sz="1900" err="1">
                <a:latin typeface="Aptos"/>
                <a:ea typeface="+mn-lt"/>
                <a:cs typeface="Arial"/>
              </a:rPr>
              <a:t>Primjena</a:t>
            </a:r>
            <a:r>
              <a:rPr lang="en-US" sz="1900">
                <a:latin typeface="Aptos"/>
                <a:ea typeface="+mn-lt"/>
                <a:cs typeface="Arial"/>
              </a:rPr>
              <a:t> </a:t>
            </a:r>
            <a:r>
              <a:rPr lang="en-US" sz="1900" err="1">
                <a:latin typeface="Aptos"/>
                <a:ea typeface="+mn-lt"/>
                <a:cs typeface="Arial"/>
              </a:rPr>
              <a:t>transparentnosti</a:t>
            </a:r>
            <a:r>
              <a:rPr lang="en-US" sz="1900">
                <a:latin typeface="Aptos"/>
                <a:ea typeface="+mn-lt"/>
                <a:cs typeface="Arial"/>
              </a:rPr>
              <a:t> </a:t>
            </a:r>
            <a:r>
              <a:rPr lang="en-US" sz="1900" err="1">
                <a:latin typeface="Aptos"/>
                <a:ea typeface="+mn-lt"/>
                <a:cs typeface="Arial"/>
              </a:rPr>
              <a:t>praćenja</a:t>
            </a:r>
            <a:r>
              <a:rPr lang="en-US" sz="1900">
                <a:latin typeface="Aptos"/>
                <a:ea typeface="+mn-lt"/>
                <a:cs typeface="Arial"/>
              </a:rPr>
              <a:t> </a:t>
            </a:r>
            <a:r>
              <a:rPr lang="en-US" sz="1900">
                <a:latin typeface="Aptos"/>
                <a:cs typeface="Arial"/>
              </a:rPr>
              <a:t>(cookie </a:t>
            </a:r>
            <a:r>
              <a:rPr lang="en-US" sz="1900" err="1">
                <a:latin typeface="Aptos"/>
                <a:cs typeface="Arial"/>
              </a:rPr>
              <a:t>suglasnost</a:t>
            </a:r>
            <a:r>
              <a:rPr lang="en-US" sz="1900">
                <a:latin typeface="Aptos"/>
                <a:cs typeface="Arial"/>
              </a:rPr>
              <a:t>)</a:t>
            </a:r>
            <a:endParaRPr lang="en-US" sz="1900">
              <a:latin typeface="Aptos"/>
            </a:endParaRPr>
          </a:p>
          <a:p>
            <a:pPr marL="0" indent="0">
              <a:buNone/>
            </a:pPr>
            <a:r>
              <a:rPr lang="en-US" sz="1900" err="1">
                <a:latin typeface="Aptos"/>
                <a:ea typeface="+mn-lt"/>
                <a:cs typeface="Arial"/>
              </a:rPr>
              <a:t>Blokiranje</a:t>
            </a:r>
            <a:r>
              <a:rPr lang="en-US" sz="1900">
                <a:latin typeface="Aptos"/>
                <a:ea typeface="+mn-lt"/>
                <a:cs typeface="Arial"/>
              </a:rPr>
              <a:t> </a:t>
            </a:r>
            <a:r>
              <a:rPr lang="en-US" sz="1900" err="1">
                <a:latin typeface="Aptos"/>
                <a:ea typeface="+mn-lt"/>
                <a:cs typeface="Arial"/>
              </a:rPr>
              <a:t>fingerprintinga</a:t>
            </a:r>
            <a:r>
              <a:rPr lang="en-US" sz="1900">
                <a:latin typeface="Aptos"/>
                <a:ea typeface="+mn-lt"/>
                <a:cs typeface="Arial"/>
              </a:rPr>
              <a:t> </a:t>
            </a:r>
            <a:r>
              <a:rPr lang="en-US" sz="1900" err="1">
                <a:latin typeface="Aptos"/>
                <a:ea typeface="+mn-lt"/>
                <a:cs typeface="Arial"/>
              </a:rPr>
              <a:t>putem</a:t>
            </a:r>
            <a:r>
              <a:rPr lang="en-US" sz="1900">
                <a:latin typeface="Aptos"/>
                <a:ea typeface="+mn-lt"/>
                <a:cs typeface="Arial"/>
              </a:rPr>
              <a:t> </a:t>
            </a:r>
            <a:r>
              <a:rPr lang="en-US" sz="1900">
                <a:latin typeface="Aptos"/>
                <a:cs typeface="Arial"/>
              </a:rPr>
              <a:t>CSP </a:t>
            </a:r>
            <a:r>
              <a:rPr lang="en-US" sz="1900" err="1">
                <a:latin typeface="Aptos"/>
                <a:cs typeface="Arial"/>
              </a:rPr>
              <a:t>politika</a:t>
            </a:r>
            <a:r>
              <a:rPr lang="en-US" sz="1900">
                <a:latin typeface="Aptos"/>
                <a:cs typeface="Arial"/>
              </a:rPr>
              <a:t> </a:t>
            </a:r>
            <a:r>
              <a:rPr lang="en-US" sz="1900" err="1">
                <a:latin typeface="Aptos"/>
                <a:cs typeface="Arial"/>
              </a:rPr>
              <a:t>preglednika</a:t>
            </a:r>
            <a:endParaRPr lang="en-US" sz="1900" err="1">
              <a:latin typeface="Aptos"/>
            </a:endParaRPr>
          </a:p>
          <a:p>
            <a:pPr marL="0" indent="0">
              <a:buNone/>
            </a:pPr>
            <a:r>
              <a:rPr lang="en-US" sz="1900">
                <a:latin typeface="Aptos"/>
                <a:cs typeface="Arial"/>
              </a:rPr>
              <a:t>Edukacija </a:t>
            </a:r>
            <a:r>
              <a:rPr lang="en-US" sz="1900" err="1">
                <a:latin typeface="Aptos"/>
                <a:cs typeface="Arial"/>
              </a:rPr>
              <a:t>korisnika</a:t>
            </a:r>
            <a:r>
              <a:rPr lang="en-US" sz="1900">
                <a:latin typeface="Aptos"/>
                <a:cs typeface="Arial"/>
              </a:rPr>
              <a:t> o </a:t>
            </a:r>
            <a:r>
              <a:rPr lang="en-US" sz="1900" err="1">
                <a:latin typeface="Aptos"/>
                <a:cs typeface="Arial"/>
              </a:rPr>
              <a:t>postavkama</a:t>
            </a:r>
            <a:r>
              <a:rPr lang="en-US" sz="1900">
                <a:latin typeface="Aptos"/>
                <a:cs typeface="Arial"/>
              </a:rPr>
              <a:t> </a:t>
            </a:r>
            <a:r>
              <a:rPr lang="en-US" sz="1900" err="1">
                <a:latin typeface="Aptos"/>
                <a:cs typeface="Arial"/>
              </a:rPr>
              <a:t>privatnosti</a:t>
            </a:r>
            <a:endParaRPr lang="en-US" sz="1900" err="1">
              <a:latin typeface="Aptos"/>
            </a:endParaRPr>
          </a:p>
          <a:p>
            <a:pPr marL="0" indent="0">
              <a:buNone/>
            </a:pPr>
            <a:endParaRPr lang="en-US" sz="1900" b="1">
              <a:latin typeface="Arial"/>
              <a:cs typeface="Arial"/>
            </a:endParaRPr>
          </a:p>
          <a:p>
            <a:endParaRPr lang="en-US" sz="1900" b="1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3192019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sustava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Široki zaslon</PresentationFormat>
  <Slides>22</Slides>
  <Notes>0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Naslovi slajdova</vt:lpstr>
      </vt:variant>
      <vt:variant>
        <vt:i4>22</vt:i4>
      </vt:variant>
    </vt:vector>
  </HeadingPairs>
  <TitlesOfParts>
    <vt:vector size="23" baseType="lpstr">
      <vt:lpstr>Tema sustava Office</vt:lpstr>
      <vt:lpstr>Web Tracking Forensics </vt:lpstr>
      <vt:lpstr>Sadržaj</vt:lpstr>
      <vt:lpstr>Uvod</vt:lpstr>
      <vt:lpstr>Alati i tehnologije</vt:lpstr>
      <vt:lpstr>Metodologija analize</vt:lpstr>
      <vt:lpstr>Obrada snimljenog prometa</vt:lpstr>
      <vt:lpstr>Prikaz baze</vt:lpstr>
      <vt:lpstr>Third-party kolačići </vt:lpstr>
      <vt:lpstr>Detekcija fingerprintinga </vt:lpstr>
      <vt:lpstr>Facebook fingerprinting report</vt:lpstr>
      <vt:lpstr>PowerPoint prezentacija</vt:lpstr>
      <vt:lpstr>PDF report </vt:lpstr>
      <vt:lpstr>Vizualizacija Facebook praćenja </vt:lpstr>
      <vt:lpstr>PowerPoint prezentacija</vt:lpstr>
      <vt:lpstr>Fingerprinting third-party odnosi </vt:lpstr>
      <vt:lpstr>Sprječavanje fingerprintinga</vt:lpstr>
      <vt:lpstr>Intenzitet Web Praćenja </vt:lpstr>
      <vt:lpstr>Kako smo to implementirali</vt:lpstr>
      <vt:lpstr>PowerPoint prezentacija</vt:lpstr>
      <vt:lpstr>PowerPoint prezentacija</vt:lpstr>
      <vt:lpstr>Najbolje stranice po intnenzitetu praćenja</vt:lpstr>
      <vt:lpstr> Ključna otkrića i preporuke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48</cp:revision>
  <dcterms:created xsi:type="dcterms:W3CDTF">2026-01-20T08:08:17Z</dcterms:created>
  <dcterms:modified xsi:type="dcterms:W3CDTF">2026-01-23T09:53:40Z</dcterms:modified>
</cp:coreProperties>
</file>